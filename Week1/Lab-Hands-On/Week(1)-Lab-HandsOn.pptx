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97" r:id="rId2"/>
    <p:sldId id="4359" r:id="rId3"/>
    <p:sldId id="275" r:id="rId4"/>
    <p:sldId id="4380" r:id="rId5"/>
    <p:sldId id="4360" r:id="rId6"/>
    <p:sldId id="4354" r:id="rId7"/>
    <p:sldId id="4352" r:id="rId8"/>
    <p:sldId id="4356" r:id="rId9"/>
    <p:sldId id="4147" r:id="rId10"/>
    <p:sldId id="299" r:id="rId11"/>
    <p:sldId id="4362" r:id="rId12"/>
    <p:sldId id="4363" r:id="rId13"/>
    <p:sldId id="4364" r:id="rId14"/>
    <p:sldId id="4366" r:id="rId15"/>
    <p:sldId id="4367" r:id="rId16"/>
    <p:sldId id="4368" r:id="rId17"/>
    <p:sldId id="4369" r:id="rId18"/>
    <p:sldId id="4370" r:id="rId19"/>
    <p:sldId id="4371" r:id="rId20"/>
    <p:sldId id="4381" r:id="rId21"/>
    <p:sldId id="4372" r:id="rId22"/>
    <p:sldId id="4373" r:id="rId23"/>
    <p:sldId id="4374" r:id="rId24"/>
    <p:sldId id="4375" r:id="rId25"/>
    <p:sldId id="4376" r:id="rId26"/>
    <p:sldId id="4377" r:id="rId27"/>
    <p:sldId id="4378" r:id="rId28"/>
    <p:sldId id="267" r:id="rId29"/>
    <p:sldId id="4379" r:id="rId30"/>
    <p:sldId id="285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SRH" panose="020B0604020202020204" charset="0"/>
      <p:regular r:id="rId39"/>
      <p:bold r:id="rId40"/>
      <p:italic r:id="rId41"/>
      <p:boldItalic r:id="rId42"/>
    </p:embeddedFont>
    <p:embeddedFont>
      <p:font typeface="SRH Headline" panose="020B0604020202020204" charset="0"/>
      <p:regular r:id="rId43"/>
      <p:bold r:id="rId44"/>
    </p:embeddedFont>
    <p:embeddedFont>
      <p:font typeface="SRH Text" panose="020B0604020202020204" charset="0"/>
      <p:regular r:id="rId45"/>
      <p:bold r:id="rId46"/>
      <p:italic r:id="rId47"/>
      <p:boldItalic r:id="rId48"/>
    </p:embeddedFont>
  </p:embeddedFontLst>
  <p:custDataLst>
    <p:tags r:id="rId4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(1)" id="{8E6C202D-32A9-4242-9C7F-061CD6AD0586}">
          <p14:sldIdLst>
            <p14:sldId id="297"/>
            <p14:sldId id="4359"/>
            <p14:sldId id="275"/>
            <p14:sldId id="4380"/>
          </p14:sldIdLst>
        </p14:section>
        <p14:section name="Agenda" id="{3FFF4A2F-D12C-4BB1-AEA5-1CF8C98DB087}">
          <p14:sldIdLst>
            <p14:sldId id="4360"/>
          </p14:sldIdLst>
        </p14:section>
        <p14:section name="Anonymous Poll" id="{2801BB6F-49DE-4497-8D10-DB7E37B5AAFD}">
          <p14:sldIdLst>
            <p14:sldId id="4354"/>
            <p14:sldId id="4352"/>
            <p14:sldId id="4356"/>
          </p14:sldIdLst>
        </p14:section>
        <p14:section name="“Variable about me“ Card" id="{B9C6C1E7-4364-4DEC-BD4E-112BEECE2C4C}">
          <p14:sldIdLst>
            <p14:sldId id="4147"/>
          </p14:sldIdLst>
        </p14:section>
        <p14:section name="Opening Hook" id="{D84FCB1D-5285-4239-A33F-C162D546EEBA}">
          <p14:sldIdLst>
            <p14:sldId id="299"/>
          </p14:sldIdLst>
        </p14:section>
        <p14:section name="Variables &amp; Data Types" id="{AE47376D-C89B-4850-89E4-8F27D95546D4}">
          <p14:sldIdLst>
            <p14:sldId id="4362"/>
            <p14:sldId id="4363"/>
          </p14:sldIdLst>
        </p14:section>
        <p14:section name="Modern String Formatting &amp; operations" id="{93C13260-3E97-4CC8-BC48-1BAE4B3072D5}">
          <p14:sldIdLst>
            <p14:sldId id="4364"/>
            <p14:sldId id="4366"/>
            <p14:sldId id="4367"/>
          </p14:sldIdLst>
        </p14:section>
        <p14:section name="Arithmetic and logical operations" id="{B11EAA8A-F52C-49C4-AFDF-53D175EF33E8}">
          <p14:sldIdLst>
            <p14:sldId id="4368"/>
            <p14:sldId id="4369"/>
            <p14:sldId id="4370"/>
            <p14:sldId id="4371"/>
          </p14:sldIdLst>
        </p14:section>
        <p14:section name="Break" id="{F8434FE4-4BBC-46B3-B5B3-3504FC5AC153}">
          <p14:sldIdLst>
            <p14:sldId id="4381"/>
          </p14:sldIdLst>
        </p14:section>
        <p14:section name="Type Casting" id="{8D54D72B-53F8-464B-981F-82E5C714BAA1}">
          <p14:sldIdLst>
            <p14:sldId id="4372"/>
            <p14:sldId id="4373"/>
            <p14:sldId id="4374"/>
          </p14:sldIdLst>
        </p14:section>
        <p14:section name="Putting it all together" id="{6D432A29-4352-4C87-985B-758A4577D1C2}">
          <p14:sldIdLst>
            <p14:sldId id="4375"/>
            <p14:sldId id="4376"/>
          </p14:sldIdLst>
        </p14:section>
        <p14:section name="Wrap-up &amp; Take-home Assignments" id="{6FE3154E-4358-409C-BEF1-5013BF88E2FC}">
          <p14:sldIdLst>
            <p14:sldId id="4377"/>
            <p14:sldId id="4378"/>
            <p14:sldId id="267"/>
            <p14:sldId id="4379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4807"/>
    <a:srgbClr val="2C2E2E"/>
    <a:srgbClr val="6D674E"/>
    <a:srgbClr val="021E30"/>
    <a:srgbClr val="D54407"/>
    <a:srgbClr val="A29181"/>
    <a:srgbClr val="CECFC9"/>
    <a:srgbClr val="FFFFFF"/>
    <a:srgbClr val="000000"/>
    <a:srgbClr val="B9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AF9EE-DA67-40E3-8A16-BAC76D17471B}" v="230" dt="2026-04-15T09:24:28.871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5" autoAdjust="0"/>
    <p:restoredTop sz="96723" autoAdjust="0"/>
  </p:normalViewPr>
  <p:slideViewPr>
    <p:cSldViewPr snapToGrid="0">
      <p:cViewPr varScale="1">
        <p:scale>
          <a:sx n="113" d="100"/>
          <a:sy n="113" d="100"/>
        </p:scale>
        <p:origin x="126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4FD14F-B70D-D5AF-1A88-433ED140F5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C11C1-92FA-8958-CAB4-BB441FEFE9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32C2A-29BB-4EB6-9CC7-2A78C55C3576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F5C5B-700C-0197-306F-E7CD103E7E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EB53B-293B-0C05-3217-92B665E63B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9B89-B461-4A4E-BF5D-F0E90320A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146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877A3E2A-35AE-479C-B172-30C9CAEEE094}" type="datetimeFigureOut">
              <a:rPr lang="de-DE" smtClean="0"/>
              <a:pPr/>
              <a:t>15.04.2026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CF191045-FCBB-4EC9-AB5F-AA4CFDEA61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22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78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3E8D-CCD2-4B6F-C9B4-2022778A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9C148-D885-8219-450A-EF2E26921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BD056-80B4-535C-EC87-9F1ACC9F2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666C5-1E5D-540C-D965-B0CE9C8DD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466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1890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E373-95A7-0532-FE71-96F33ED2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700C1-05F0-D1A3-A7D1-434687F4E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2A6E-7996-10D1-43C8-918B7BF5A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4CA94-BCF7-B1E9-BE70-AA0589203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4125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x = 5</a:t>
            </a:r>
            <a:b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x = 7</a:t>
            </a:r>
          </a:p>
          <a:p>
            <a:r>
              <a:rPr lang="en-GB" dirty="0"/>
              <a:t>you are not modifying the integer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5</a:t>
            </a:r>
            <a:r>
              <a:rPr lang="en-GB" dirty="0"/>
              <a:t>. Instead, you are re-binding the name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x</a:t>
            </a:r>
            <a:r>
              <a:rPr lang="en-GB" dirty="0"/>
              <a:t> to a different object, namely the integer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7</a:t>
            </a:r>
            <a:r>
              <a:rPr lang="en-GB" dirty="0"/>
              <a:t>. The original object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5</a:t>
            </a:r>
            <a:r>
              <a:rPr lang="en-GB" dirty="0"/>
              <a:t> remains unchanged in memory.</a:t>
            </a:r>
          </a:p>
          <a:p>
            <a:r>
              <a:rPr lang="en-GB" dirty="0"/>
              <a:t>Immutability means that once an integer object is created, its value cannot be altered. There is no operation that transforms the object representing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5</a:t>
            </a:r>
            <a:r>
              <a:rPr lang="en-GB" dirty="0"/>
              <a:t> into </a:t>
            </a:r>
            <a:r>
              <a:rPr lang="en-GB" sz="1200" kern="1200" dirty="0">
                <a:solidFill>
                  <a:schemeClr val="tx1"/>
                </a:solidFill>
                <a:latin typeface="SRH Text" panose="020B0503020204020204" pitchFamily="34" charset="0"/>
                <a:ea typeface="+mn-ea"/>
                <a:cs typeface="+mn-cs"/>
              </a:rPr>
              <a:t>7</a:t>
            </a:r>
            <a:r>
              <a:rPr lang="en-GB" dirty="0"/>
              <a:t>. Rather, a new object is created, and the variable is updated to reference it. ###### It is the </a:t>
            </a:r>
            <a:r>
              <a:rPr lang="en-GB" b="1" dirty="0"/>
              <a:t>object</a:t>
            </a:r>
            <a:r>
              <a:rPr lang="en-GB" dirty="0"/>
              <a:t> that is immutable, not the variable.</a:t>
            </a:r>
          </a:p>
          <a:p>
            <a:r>
              <a:rPr lang="en-GB" dirty="0"/>
              <a:t>A </a:t>
            </a:r>
            <a:r>
              <a:rPr lang="en-GB" b="1" dirty="0"/>
              <a:t>variable</a:t>
            </a:r>
            <a:r>
              <a:rPr lang="en-GB" dirty="0"/>
              <a:t> in Python is simply a reference or label bound to an object. It can be reassigned freely. </a:t>
            </a:r>
          </a:p>
          <a:p>
            <a:r>
              <a:rPr lang="en-GB" dirty="0"/>
              <a:t>An </a:t>
            </a:r>
            <a:r>
              <a:rPr lang="en-GB" b="1" dirty="0"/>
              <a:t>object</a:t>
            </a:r>
            <a:r>
              <a:rPr lang="en-GB" dirty="0"/>
              <a:t> (in this case, an integer) is immutable, meaning its internal state cannot change after creation. </a:t>
            </a:r>
          </a:p>
          <a:p>
            <a:r>
              <a:rPr lang="en-GB" dirty="0"/>
              <a:t>Thus, immutability is a property of the object itself, whereas variables remain mutable in the sense that they can point to different objects over time.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671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D1BC13A-F8DC-4F93-5A36-98888E2F0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24" name="Thema 1">
            <a:extLst>
              <a:ext uri="{FF2B5EF4-FFF2-40B4-BE49-F238E27FC236}">
                <a16:creationId xmlns:a16="http://schemas.microsoft.com/office/drawing/2014/main" id="{E0EF4533-96BB-8B62-CBCC-9ED61CC2892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73463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5" name="Zahl Thema 1">
            <a:extLst>
              <a:ext uri="{FF2B5EF4-FFF2-40B4-BE49-F238E27FC236}">
                <a16:creationId xmlns:a16="http://schemas.microsoft.com/office/drawing/2014/main" id="{417EAB38-43FF-1504-A030-6F3E61D1B8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3" name="Thema 1">
            <a:extLst>
              <a:ext uri="{FF2B5EF4-FFF2-40B4-BE49-F238E27FC236}">
                <a16:creationId xmlns:a16="http://schemas.microsoft.com/office/drawing/2014/main" id="{1A37B297-321D-8AE7-2F02-3D95027BE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73465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4" name="Zahl Thema 1">
            <a:extLst>
              <a:ext uri="{FF2B5EF4-FFF2-40B4-BE49-F238E27FC236}">
                <a16:creationId xmlns:a16="http://schemas.microsoft.com/office/drawing/2014/main" id="{E52E2AE4-CBDE-4AE7-3530-D1D265270C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2" name="Thema 1">
            <a:extLst>
              <a:ext uri="{FF2B5EF4-FFF2-40B4-BE49-F238E27FC236}">
                <a16:creationId xmlns:a16="http://schemas.microsoft.com/office/drawing/2014/main" id="{BBC39FEE-F2AC-F800-A5A4-1D102C0399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73465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3" name="Zahl Thema 1">
            <a:extLst>
              <a:ext uri="{FF2B5EF4-FFF2-40B4-BE49-F238E27FC236}">
                <a16:creationId xmlns:a16="http://schemas.microsoft.com/office/drawing/2014/main" id="{E4ABD6E5-5EF3-42A3-FCAD-69AE6FA9E5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6000" y="3291125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1" name="Thema 1">
            <a:extLst>
              <a:ext uri="{FF2B5EF4-FFF2-40B4-BE49-F238E27FC236}">
                <a16:creationId xmlns:a16="http://schemas.microsoft.com/office/drawing/2014/main" id="{DED4AAE8-2649-8EBA-6B49-009E08A77C6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73465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2" name="Zahl Thema 1">
            <a:extLst>
              <a:ext uri="{FF2B5EF4-FFF2-40B4-BE49-F238E27FC236}">
                <a16:creationId xmlns:a16="http://schemas.microsoft.com/office/drawing/2014/main" id="{81E0646A-4C7A-1F4A-3CD0-8C8A5B5C93F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0" name="Thema 1">
            <a:extLst>
              <a:ext uri="{FF2B5EF4-FFF2-40B4-BE49-F238E27FC236}">
                <a16:creationId xmlns:a16="http://schemas.microsoft.com/office/drawing/2014/main" id="{654DC2AA-AF1C-462E-75CA-A7A1B5639F8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1" name="Zahl Thema 1">
            <a:extLst>
              <a:ext uri="{FF2B5EF4-FFF2-40B4-BE49-F238E27FC236}">
                <a16:creationId xmlns:a16="http://schemas.microsoft.com/office/drawing/2014/main" id="{3EE8B63B-3115-A1BF-E6BC-7C3D2C2696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9" name="Thema 1">
            <a:extLst>
              <a:ext uri="{FF2B5EF4-FFF2-40B4-BE49-F238E27FC236}">
                <a16:creationId xmlns:a16="http://schemas.microsoft.com/office/drawing/2014/main" id="{60F31CC5-38C0-1D91-0890-082A693A67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0" name="Zahl Thema 1">
            <a:extLst>
              <a:ext uri="{FF2B5EF4-FFF2-40B4-BE49-F238E27FC236}">
                <a16:creationId xmlns:a16="http://schemas.microsoft.com/office/drawing/2014/main" id="{73670FA5-0A72-C39B-31DD-960D04D8D94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8" name="Thema 1">
            <a:extLst>
              <a:ext uri="{FF2B5EF4-FFF2-40B4-BE49-F238E27FC236}">
                <a16:creationId xmlns:a16="http://schemas.microsoft.com/office/drawing/2014/main" id="{D23001DC-439B-F6A6-5F4F-B9BA1533496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" name="Zahl Thema 1">
            <a:extLst>
              <a:ext uri="{FF2B5EF4-FFF2-40B4-BE49-F238E27FC236}">
                <a16:creationId xmlns:a16="http://schemas.microsoft.com/office/drawing/2014/main" id="{904029B0-83F7-3EE9-EF6A-7A5BBFCA34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7" name="Thema 1">
            <a:extLst>
              <a:ext uri="{FF2B5EF4-FFF2-40B4-BE49-F238E27FC236}">
                <a16:creationId xmlns:a16="http://schemas.microsoft.com/office/drawing/2014/main" id="{6CFFFF59-0383-2F7D-5A19-C21529AEE63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" name="Zahl Thema 1">
            <a:extLst>
              <a:ext uri="{FF2B5EF4-FFF2-40B4-BE49-F238E27FC236}">
                <a16:creationId xmlns:a16="http://schemas.microsoft.com/office/drawing/2014/main" id="{7AF88CBE-99FD-ECBA-E7E2-D0D5000EF29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6" name="Thema 1">
            <a:extLst>
              <a:ext uri="{FF2B5EF4-FFF2-40B4-BE49-F238E27FC236}">
                <a16:creationId xmlns:a16="http://schemas.microsoft.com/office/drawing/2014/main" id="{10042594-2E0C-223F-20F4-629765AAF4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3" name="Zahl Thema 1">
            <a:extLst>
              <a:ext uri="{FF2B5EF4-FFF2-40B4-BE49-F238E27FC236}">
                <a16:creationId xmlns:a16="http://schemas.microsoft.com/office/drawing/2014/main" id="{21289641-CFF9-EF51-ACBA-C1A6EEA6FF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728000"/>
            <a:ext cx="11466823" cy="3826893"/>
          </a:xfrm>
        </p:spPr>
        <p:txBody>
          <a:bodyPr spcCol="360000"/>
          <a:lstStyle>
            <a:lvl1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 / zweite Zeile optionale Beschreibung durch weiche Zeilenschaltung (Shift- + Entertaste klicken)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6F6582-A096-CACB-F073-A3CA677333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2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2601908"/>
            <a:ext cx="9158400" cy="335609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9" name="Untertitel 6">
            <a:extLst>
              <a:ext uri="{FF2B5EF4-FFF2-40B4-BE49-F238E27FC236}">
                <a16:creationId xmlns:a16="http://schemas.microsoft.com/office/drawing/2014/main" id="{754254B2-0511-2CF9-4307-322035DE9299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91584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911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C78D04AA-A8FB-AAC0-749E-8C3BEEB26E86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60000" y="3124788"/>
            <a:ext cx="7642812" cy="251688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tabLst>
                <a:tab pos="1168400" algn="l"/>
              </a:tabLst>
              <a:defRPr/>
            </a:lvl1pPr>
          </a:lstStyle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, 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2601908"/>
            <a:ext cx="7520556" cy="3356092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6">
            <a:extLst>
              <a:ext uri="{FF2B5EF4-FFF2-40B4-BE49-F238E27FC236}">
                <a16:creationId xmlns:a16="http://schemas.microsoft.com/office/drawing/2014/main" id="{432D4663-6ACC-110A-AB11-4FB06AC98892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75288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381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Bild, 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7644" y="1728000"/>
            <a:ext cx="7517808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5453" y="1728000"/>
            <a:ext cx="3581368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41762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7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6E21690-ED2B-EF9B-A94B-3380AFBBAF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tabLst>
                <a:tab pos="5118100" algn="l"/>
              </a:tabLst>
              <a:defRPr/>
            </a:lvl1pPr>
          </a:lstStyle>
          <a:p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58BA37D-D936-DFFC-012E-332DD1E77F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D18D0-3C57-E2A5-99A6-73B8E60180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6958A4A-7CCB-D30A-146E-1052A140D5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8982CEE-C30D-F03B-1D0F-BC08A58C3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el + graue 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83B0DD-5DF7-8F73-9406-5100CC2666F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625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Any Questions?</a:t>
            </a:r>
          </a:p>
          <a:p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See you next time </a:t>
            </a:r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  <a:sym typeface="Wingdings" panose="05000000000000000000" pitchFamily="2" charset="2"/>
              </a:rPr>
              <a:t></a:t>
            </a:r>
            <a:endParaRPr lang="de-DE" sz="4800" b="1" dirty="0">
              <a:solidFill>
                <a:srgbClr val="DF4807"/>
              </a:solidFill>
              <a:latin typeface="SRH Headline" panose="020B0603020204020204" pitchFamily="34" charset="0"/>
              <a:ea typeface="SRH Headline" panose="020B0603020204020204" pitchFamily="34" charset="0"/>
              <a:cs typeface="SRH Headline" panose="020B0603020204020204" pitchFamily="34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6971E219-B703-EDCC-A086-1CF2E0C20E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1Copy mit Bulletpoint </a:t>
            </a:r>
            <a:r>
              <a:rPr lang="de-DE" dirty="0"/>
              <a:t>18 Pt.</a:t>
            </a:r>
          </a:p>
          <a:p>
            <a:pPr lvl="1"/>
            <a:r>
              <a:rPr lang="de-DE"/>
              <a:t>2Copy mit Bulletpoint, eingerückt 16 Pt.</a:t>
            </a:r>
          </a:p>
          <a:p>
            <a:pPr lvl="2"/>
            <a:r>
              <a:rPr lang="de-DE"/>
              <a:t>3Copy mit Bulletpoint, eingerückt 16 Pt.</a:t>
            </a:r>
          </a:p>
          <a:p>
            <a:pPr lvl="3"/>
            <a:r>
              <a:rPr lang="de-DE"/>
              <a:t>4Copy mit Bulletpoint 18 Pt</a:t>
            </a:r>
          </a:p>
          <a:p>
            <a:pPr lvl="4"/>
            <a:r>
              <a:rPr lang="de-DE"/>
              <a:t>5Copy mit Bulletpoint 18 Pt.</a:t>
            </a:r>
            <a:endParaRPr lang="de-DE" dirty="0"/>
          </a:p>
          <a:p>
            <a:pPr lvl="5"/>
            <a:r>
              <a:rPr lang="de-DE"/>
              <a:t>6Copy mit Bulletpoint 18 Pt.</a:t>
            </a:r>
            <a:endParaRPr lang="de-DE" dirty="0"/>
          </a:p>
          <a:p>
            <a:pPr lvl="6"/>
            <a:r>
              <a:rPr lang="de-DE"/>
              <a:t>7Copy mit Bulletpoint 18 </a:t>
            </a:r>
            <a:r>
              <a:rPr lang="de-DE" dirty="0"/>
              <a:t>Pt.</a:t>
            </a:r>
          </a:p>
          <a:p>
            <a:pPr lvl="7"/>
            <a:r>
              <a:rPr lang="de-DE"/>
              <a:t>8Copy mit Bulletpoint 18 Pt.</a:t>
            </a:r>
            <a:endParaRPr lang="de-DE" dirty="0"/>
          </a:p>
          <a:p>
            <a:pPr lvl="8"/>
            <a:r>
              <a:rPr lang="de-DE"/>
              <a:t>9Copy mit Bulletpoint 18 Pt. 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87" r:id="rId4"/>
    <p:sldLayoutId id="2147483650" r:id="rId5"/>
    <p:sldLayoutId id="2147483691" r:id="rId6"/>
    <p:sldLayoutId id="2147483651" r:id="rId7"/>
    <p:sldLayoutId id="2147483666" r:id="rId8"/>
    <p:sldLayoutId id="2147483686" r:id="rId9"/>
    <p:sldLayoutId id="2147483667" r:id="rId10"/>
    <p:sldLayoutId id="2147483664" r:id="rId11"/>
    <p:sldLayoutId id="2147483665" r:id="rId12"/>
    <p:sldLayoutId id="2147483661" r:id="rId13"/>
    <p:sldLayoutId id="2147483671" r:id="rId14"/>
    <p:sldLayoutId id="2147483672" r:id="rId15"/>
    <p:sldLayoutId id="2147483692" r:id="rId16"/>
    <p:sldLayoutId id="2147483694" r:id="rId17"/>
    <p:sldLayoutId id="2147483678" r:id="rId18"/>
    <p:sldLayoutId id="2147483673" r:id="rId19"/>
    <p:sldLayoutId id="2147483677" r:id="rId20"/>
    <p:sldLayoutId id="2147483683" r:id="rId21"/>
    <p:sldLayoutId id="2147483680" r:id="rId22"/>
    <p:sldLayoutId id="2147483684" r:id="rId23"/>
    <p:sldLayoutId id="2147483654" r:id="rId24"/>
    <p:sldLayoutId id="2147483693" r:id="rId25"/>
    <p:sldLayoutId id="2147483655" r:id="rId26"/>
    <p:sldLayoutId id="2147483681" r:id="rId27"/>
    <p:sldLayoutId id="2147483682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1pPr>
      <a:lvl2pPr marL="720000" indent="-360000" algn="l" defTabSz="914400" rtl="0" eaLnBrk="1" latinLnBrk="0" hangingPunct="1">
        <a:lnSpc>
          <a:spcPct val="110000"/>
        </a:lnSpc>
        <a:spcBef>
          <a:spcPts val="3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2pPr>
      <a:lvl3pPr marL="1080000" indent="-360000" algn="l" defTabSz="914400" rtl="0" eaLnBrk="1" latinLnBrk="0" hangingPunct="1">
        <a:lnSpc>
          <a:spcPct val="110000"/>
        </a:lnSpc>
        <a:spcBef>
          <a:spcPts val="30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3pPr>
      <a:lvl4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4pPr>
      <a:lvl5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5pPr>
      <a:lvl6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6pPr>
      <a:lvl7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7pPr>
      <a:lvl8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8pPr>
      <a:lvl9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26">
          <p15:clr>
            <a:srgbClr val="F26B43"/>
          </p15:clr>
        </p15:guide>
        <p15:guide id="4" pos="7453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1088">
          <p15:clr>
            <a:srgbClr val="F26B43"/>
          </p15:clr>
        </p15:guide>
        <p15:guide id="8" orient="horz" pos="3753">
          <p15:clr>
            <a:srgbClr val="F26B43"/>
          </p15:clr>
        </p15:guide>
        <p15:guide id="9" orient="horz" pos="690">
          <p15:clr>
            <a:srgbClr val="F26B43"/>
          </p15:clr>
        </p15:guide>
        <p15:guide id="10" pos="5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rawpixel.com/search/conduct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9.svg"/><Relationship Id="rId5" Type="http://schemas.openxmlformats.org/officeDocument/2006/relationships/image" Target="../media/image10.svg"/><Relationship Id="rId4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8.svg"/><Relationship Id="rId5" Type="http://schemas.openxmlformats.org/officeDocument/2006/relationships/image" Target="../media/image16.svg"/><Relationship Id="rId4" Type="http://schemas.openxmlformats.org/officeDocument/2006/relationships/image" Target="../media/image17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hadeermobasher/" TargetMode="External"/><Relationship Id="rId2" Type="http://schemas.openxmlformats.org/officeDocument/2006/relationships/hyperlink" Target="mailto:ghadeer.mobasher@srh-hochschulen.de" TargetMode="Externa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7B85632-E4AE-45C1-B77F-DC305DB7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9516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Python Foundations for Data Science</a:t>
            </a:r>
            <a:br>
              <a:rPr lang="en-GB" sz="4500" dirty="0"/>
            </a:br>
            <a:br>
              <a:rPr lang="en-GB" sz="4500" dirty="0"/>
            </a:br>
            <a:endParaRPr lang="de-DE" sz="45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6E6FC4-C5A8-42EB-8C76-017ABA498F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39729" y="6100352"/>
            <a:ext cx="649569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DE" sz="2400" b="1" dirty="0">
                <a:solidFill>
                  <a:srgbClr val="2C2E2E"/>
                </a:solidFill>
              </a:rPr>
              <a:t>Dr. Ghadeer Mobasher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9CD85-AEC2-EA9F-A307-E9A335CBF91F}"/>
              </a:ext>
            </a:extLst>
          </p:cNvPr>
          <p:cNvSpPr txBox="1"/>
          <p:nvPr/>
        </p:nvSpPr>
        <p:spPr>
          <a:xfrm>
            <a:off x="891349" y="3235554"/>
            <a:ext cx="9192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2C2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Week(1)</a:t>
            </a:r>
            <a:r>
              <a:rPr lang="en-GB" sz="2000" dirty="0">
                <a:solidFill>
                  <a:srgbClr val="2C2E2E"/>
                </a:solidFill>
              </a:rPr>
              <a:t>: </a:t>
            </a:r>
            <a:r>
              <a:rPr lang="en-US" sz="2000" dirty="0">
                <a:solidFill>
                  <a:srgbClr val="2C2E2E"/>
                </a:solidFill>
              </a:rPr>
              <a:t>Introduction to Python &amp; Programming</a:t>
            </a:r>
            <a:br>
              <a:rPr lang="en-US" sz="2000" dirty="0">
                <a:solidFill>
                  <a:srgbClr val="2C2E2E"/>
                </a:solidFill>
              </a:rPr>
            </a:br>
            <a:r>
              <a:rPr lang="en-US" sz="2000" dirty="0">
                <a:solidFill>
                  <a:srgbClr val="2C2E2E"/>
                </a:solidFill>
              </a:rPr>
              <a:t>Concepts</a:t>
            </a: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Wednesday, 15 April 2026, 14:00–17:15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ACD130-67BC-47D4-FDD6-D49B73CCD3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665" y="4745001"/>
            <a:ext cx="1031075" cy="1031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1F871D-CBD1-A750-9E52-77B0C447210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815" y="4745002"/>
            <a:ext cx="1031075" cy="103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9123-30F1-277D-0550-717132BE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390FE-4AE5-B8C9-1B91-B80A9635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Name Pronunciation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C1554-9F62-281E-9BA0-1F64081633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8178" y="1606005"/>
            <a:ext cx="11287117" cy="3936048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F4807"/>
                </a:solidFill>
              </a:rPr>
              <a:t>Ghadeer </a:t>
            </a:r>
          </a:p>
          <a:p>
            <a:pPr marL="0" indent="0">
              <a:buNone/>
            </a:pPr>
            <a:r>
              <a:rPr lang="en-US" b="1" dirty="0"/>
              <a:t>IPA:</a:t>
            </a:r>
            <a:r>
              <a:rPr lang="en-US" dirty="0"/>
              <a:t> /</a:t>
            </a:r>
            <a:r>
              <a:rPr lang="en-US" dirty="0" err="1"/>
              <a:t>ʁa</a:t>
            </a:r>
            <a:r>
              <a:rPr lang="en-US" dirty="0"/>
              <a:t>-deer/</a:t>
            </a:r>
          </a:p>
          <a:p>
            <a:pPr marL="0" indent="0">
              <a:buNone/>
            </a:pPr>
            <a:r>
              <a:rPr lang="en-US" b="1" dirty="0"/>
              <a:t>Breakdown: </a:t>
            </a:r>
            <a:endParaRPr lang="de-DE" b="1" dirty="0"/>
          </a:p>
          <a:p>
            <a:r>
              <a:rPr lang="en-US" b="1" dirty="0"/>
              <a:t>/ʁ/ </a:t>
            </a:r>
            <a:r>
              <a:rPr lang="en-US" dirty="0"/>
              <a:t>: </a:t>
            </a:r>
            <a:r>
              <a:rPr lang="en-GB" dirty="0"/>
              <a:t>a voiced sound produced in the back of the throat, like the French </a:t>
            </a:r>
            <a:r>
              <a:rPr lang="en-GB" i="1" dirty="0"/>
              <a:t>r</a:t>
            </a:r>
            <a:r>
              <a:rPr lang="en-GB" dirty="0"/>
              <a:t> in </a:t>
            </a:r>
            <a:r>
              <a:rPr lang="en-GB" i="1" dirty="0"/>
              <a:t>rouge</a:t>
            </a:r>
            <a:r>
              <a:rPr lang="en-GB" dirty="0"/>
              <a:t>. </a:t>
            </a:r>
            <a:r>
              <a:rPr lang="en-US" dirty="0"/>
              <a:t>which closely resembles the Arabic</a:t>
            </a:r>
            <a:r>
              <a:rPr lang="ar-AE" b="1" dirty="0"/>
              <a:t>غ</a:t>
            </a:r>
            <a:r>
              <a:rPr lang="en-GB" b="1" dirty="0"/>
              <a:t>   . </a:t>
            </a:r>
            <a:r>
              <a:rPr lang="en-GB" dirty="0"/>
              <a:t>It is </a:t>
            </a:r>
            <a:r>
              <a:rPr lang="en-GB" b="1" dirty="0"/>
              <a:t>not</a:t>
            </a:r>
            <a:r>
              <a:rPr lang="en-GB" dirty="0"/>
              <a:t> the English hard “g” as in “go ”.</a:t>
            </a:r>
          </a:p>
          <a:p>
            <a:r>
              <a:rPr lang="en-GB" b="1" dirty="0"/>
              <a:t>“a”</a:t>
            </a:r>
            <a:r>
              <a:rPr lang="en-GB" dirty="0"/>
              <a:t> : like the “a” in </a:t>
            </a:r>
            <a:r>
              <a:rPr lang="en-GB" i="1" dirty="0"/>
              <a:t>father</a:t>
            </a:r>
            <a:r>
              <a:rPr lang="en-GB" dirty="0"/>
              <a:t>.</a:t>
            </a:r>
          </a:p>
          <a:p>
            <a:r>
              <a:rPr lang="en-GB" b="1" dirty="0"/>
              <a:t>/deer/ : </a:t>
            </a:r>
            <a:r>
              <a:rPr lang="en-GB" dirty="0"/>
              <a:t>stressed syllable, “deer” as in the animal, with a long /</a:t>
            </a:r>
            <a:r>
              <a:rPr lang="en-GB" dirty="0" err="1"/>
              <a:t>i</a:t>
            </a:r>
            <a:r>
              <a:rPr lang="en-GB" dirty="0"/>
              <a:t>ː/ vowel.</a:t>
            </a:r>
          </a:p>
          <a:p>
            <a:r>
              <a:rPr lang="en-GB" dirty="0"/>
              <a:t>You may call me Dr. G </a:t>
            </a:r>
            <a:r>
              <a:rPr lang="en-GB" dirty="0">
                <a:sym typeface="Wingdings" panose="05000000000000000000" pitchFamily="2" charset="2"/>
              </a:rPr>
              <a:t>! </a:t>
            </a:r>
            <a:endParaRPr lang="en-GB" dirty="0"/>
          </a:p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8C2BFA-A3B1-B39B-C387-005F7B7D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/>
          <a:lstStyle/>
          <a:p>
            <a:fld id="{075B144D-941B-4DFC-AF5F-0416193D12EC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EF4EBAC-4C2C-8979-6844-408B9012C19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9" r="18909"/>
          <a:stretch>
            <a:fillRect/>
          </a:stretch>
        </p:blipFill>
        <p:spPr>
          <a:xfrm>
            <a:off x="8943062" y="1194062"/>
            <a:ext cx="1603018" cy="1719347"/>
          </a:xfrm>
          <a:prstGeom prst="rect">
            <a:avLst/>
          </a:prstGeom>
          <a:solidFill>
            <a:srgbClr val="D54407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8838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About 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769096-EEEB-4D17-A80B-D1BB815A8B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467" y="1434347"/>
            <a:ext cx="7704883" cy="3356092"/>
          </a:xfrm>
        </p:spPr>
        <p:txBody>
          <a:bodyPr/>
          <a:lstStyle/>
          <a:p>
            <a:r>
              <a:rPr lang="en-GB" dirty="0"/>
              <a:t>PhD in Computer Science, Heidelberg University.</a:t>
            </a:r>
          </a:p>
          <a:p>
            <a:r>
              <a:rPr lang="en-GB" dirty="0"/>
              <a:t>Research Associate at Heidelberg Institute for Theoretical Studies.</a:t>
            </a:r>
          </a:p>
          <a:p>
            <a:r>
              <a:rPr lang="en-GB" dirty="0"/>
              <a:t>My PhD focused on biomedical text and class imbalance problems.</a:t>
            </a:r>
          </a:p>
          <a:p>
            <a:r>
              <a:rPr lang="en-GB" dirty="0"/>
              <a:t>I enjoy teaching and find knowledge exchange genuinely rewarding.</a:t>
            </a:r>
          </a:p>
          <a:p>
            <a:r>
              <a:rPr lang="en-GB" dirty="0"/>
              <a:t>I believe no question is a bad question.</a:t>
            </a:r>
          </a:p>
          <a:p>
            <a:r>
              <a:rPr lang="en-GB" dirty="0"/>
              <a:t>I learn as much from failed experiments as from successful ones.</a:t>
            </a:r>
          </a:p>
          <a:p>
            <a:r>
              <a:rPr lang="en-GB" dirty="0"/>
              <a:t>I enjoy hiking and spending time in nature where I do my best thinking.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/>
          <a:lstStyle/>
          <a:p>
            <a:fld id="{075B144D-941B-4DFC-AF5F-0416193D12EC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2C268F8-1091-B9AE-9F88-62AB13CE528B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3" b="9783"/>
          <a:stretch>
            <a:fillRect/>
          </a:stretch>
        </p:blipFill>
        <p:spPr>
          <a:xfrm>
            <a:off x="8126092" y="1291045"/>
            <a:ext cx="3943800" cy="4230000"/>
          </a:xfrm>
          <a:prstGeom prst="rect">
            <a:avLst/>
          </a:prstGeom>
          <a:solidFill>
            <a:srgbClr val="D54407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50036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EB5C-EAC2-A6C3-87BD-F0B527DB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71913-CCCF-F0EA-BB33-77EA5E1F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Lab Rules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5BC37-41A5-B155-C75B-6757BAD6C7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466" y="1434347"/>
            <a:ext cx="11613355" cy="3356092"/>
          </a:xfrm>
        </p:spPr>
        <p:txBody>
          <a:bodyPr/>
          <a:lstStyle/>
          <a:p>
            <a:r>
              <a:rPr lang="en-GB" dirty="0"/>
              <a:t>You are expected to </a:t>
            </a:r>
            <a:r>
              <a:rPr lang="en-GB" b="1" dirty="0">
                <a:solidFill>
                  <a:srgbClr val="FF0000"/>
                </a:solidFill>
              </a:rPr>
              <a:t>arrive on time </a:t>
            </a:r>
            <a:r>
              <a:rPr lang="en-GB" dirty="0"/>
              <a:t>and </a:t>
            </a:r>
            <a:r>
              <a:rPr lang="en-GB" b="1" dirty="0">
                <a:solidFill>
                  <a:srgbClr val="FF0000"/>
                </a:solidFill>
              </a:rPr>
              <a:t>come prepared</a:t>
            </a:r>
            <a:r>
              <a:rPr lang="en-GB" dirty="0"/>
              <a:t>, having completed any required pre-lab reading or setup.</a:t>
            </a:r>
          </a:p>
          <a:p>
            <a:r>
              <a:rPr lang="en-GB" dirty="0"/>
              <a:t>You should </a:t>
            </a:r>
            <a:r>
              <a:rPr lang="en-GB" i="1" dirty="0">
                <a:solidFill>
                  <a:srgbClr val="FF0000"/>
                </a:solidFill>
              </a:rPr>
              <a:t>engage actively </a:t>
            </a:r>
            <a:r>
              <a:rPr lang="en-GB" dirty="0"/>
              <a:t>with the lab tasks, follow instructions carefully, and attempt all exercises independently </a:t>
            </a:r>
            <a:r>
              <a:rPr lang="en-GB" b="1" dirty="0"/>
              <a:t>before seeking assistance</a:t>
            </a:r>
            <a:r>
              <a:rPr lang="en-GB" dirty="0"/>
              <a:t>.</a:t>
            </a:r>
          </a:p>
          <a:p>
            <a:r>
              <a:rPr lang="en-GB" dirty="0"/>
              <a:t>Discussion and peer support are </a:t>
            </a:r>
            <a:r>
              <a:rPr lang="en-GB" b="1" dirty="0"/>
              <a:t>encouraged</a:t>
            </a:r>
            <a:r>
              <a:rPr lang="en-GB" dirty="0"/>
              <a:t>; however, each student must submit their own work.</a:t>
            </a:r>
          </a:p>
          <a:p>
            <a:r>
              <a:rPr lang="en-GB" dirty="0"/>
              <a:t>You should manage your </a:t>
            </a:r>
            <a:r>
              <a:rPr lang="en-GB" b="1" dirty="0">
                <a:solidFill>
                  <a:srgbClr val="FF0000"/>
                </a:solidFill>
              </a:rPr>
              <a:t>time effectively </a:t>
            </a:r>
            <a:r>
              <a:rPr lang="en-GB" dirty="0"/>
              <a:t>to complete the assigned tasks within the allocated session.</a:t>
            </a:r>
          </a:p>
          <a:p>
            <a:r>
              <a:rPr lang="en-GB" b="1" dirty="0">
                <a:solidFill>
                  <a:srgbClr val="DF4807"/>
                </a:solidFill>
              </a:rPr>
              <a:t>All</a:t>
            </a:r>
            <a:r>
              <a:rPr lang="en-GB" dirty="0"/>
              <a:t> lab work must be submitted on </a:t>
            </a:r>
            <a:r>
              <a:rPr lang="en-GB" b="1" dirty="0">
                <a:solidFill>
                  <a:srgbClr val="DF4807"/>
                </a:solidFill>
              </a:rPr>
              <a:t>time</a:t>
            </a:r>
            <a:r>
              <a:rPr lang="en-GB" dirty="0"/>
              <a:t> via your </a:t>
            </a:r>
            <a:r>
              <a:rPr lang="en-GB" u="sng" dirty="0"/>
              <a:t>own course's GitHub Repository</a:t>
            </a:r>
            <a:r>
              <a:rPr lang="en-GB" dirty="0"/>
              <a:t>.</a:t>
            </a:r>
          </a:p>
          <a:p>
            <a:r>
              <a:rPr lang="en-GB" dirty="0"/>
              <a:t>Workstations should be kept tidy </a:t>
            </a:r>
            <a:r>
              <a:rPr lang="en-GB" b="1" dirty="0">
                <a:solidFill>
                  <a:srgbClr val="FF0000"/>
                </a:solidFill>
              </a:rPr>
              <a:t>before</a:t>
            </a:r>
            <a:r>
              <a:rPr lang="en-GB" dirty="0"/>
              <a:t> you leave.</a:t>
            </a:r>
          </a:p>
          <a:p>
            <a:r>
              <a:rPr lang="en-GB" dirty="0"/>
              <a:t>You are expected to </a:t>
            </a:r>
            <a:r>
              <a:rPr lang="en-GB" b="1" dirty="0">
                <a:solidFill>
                  <a:srgbClr val="FF0000"/>
                </a:solidFill>
              </a:rPr>
              <a:t>maintain</a:t>
            </a:r>
            <a:r>
              <a:rPr lang="en-GB" dirty="0"/>
              <a:t> a professional attitude, respect others, and minimise distractions during the session.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A3E8E1-FE76-7070-9991-82E531A7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/>
          <a:lstStyle/>
          <a:p>
            <a:fld id="{075B144D-941B-4DFC-AF5F-0416193D12EC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697C4B-E605-9248-B7C5-59013452D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30129" y="5122922"/>
            <a:ext cx="3956005" cy="16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EC6828-54D1-B3A4-AE36-AF838EACAC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Three quick anonymous polls 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Getting to know you and breaking the 🧊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“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Variable about me“ Card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Fill in the card and share the answer with your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neighboring colleague.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Why Python?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Opening Hook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What is a Variable?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Variables &amp; Data Types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Arithemtic and Boolean Operations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Arithmetic &amp; logical operators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Why Type Conversion Matters?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Type Casting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Putting it All Together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Exercises</a:t>
            </a: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D54407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BBA05-65D0-2CF6-A387-95D8EDFC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05A0A-CA9C-FF13-ED72-A9CE9BF548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85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95069-925E-5E75-3B0D-A79689E0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68B79-FC34-8561-D738-6ADB2E73A2E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4005CB-23B2-7CA4-D8CA-86AF9E2FBA8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 dirty="0">
                <a:solidFill>
                  <a:srgbClr val="000000"/>
                </a:solidFill>
              </a:rPr>
              <a:t>What brought you to this programme?</a:t>
            </a:r>
            <a:endParaRPr lang="en-DE" sz="4000" b="1" dirty="0">
              <a:solidFill>
                <a:srgbClr val="000000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4A37B79-6F3C-3D74-16F5-2C30166CFD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164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7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B0720-FE13-8BB6-9010-D6E7C518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58E7B-8712-E358-26F9-8CDBEBB040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58ECD-43EA-4524-B56F-E45B3C442DF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Rate your Python experience</a:t>
            </a:r>
            <a:endParaRPr lang="en-DE" sz="4000" b="1">
              <a:solidFill>
                <a:srgbClr val="000000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83A9579-E196-6AA5-A607-FD64EB37C5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844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CCFB4-00DA-F4AB-2FAC-61516E86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8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6C095-660B-FCA4-F7DF-3ACB8558DE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CD39E-822F-D8A3-2D01-894236302C5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 dirty="0">
                <a:solidFill>
                  <a:srgbClr val="000000"/>
                </a:solidFill>
              </a:rPr>
              <a:t>What do you want to build by the end of this module?</a:t>
            </a:r>
            <a:endParaRPr lang="en-DE" sz="4000" b="1" dirty="0">
              <a:solidFill>
                <a:srgbClr val="00000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B2FBA10-1406-C40C-4718-A5CB5B8A7E9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BD378B-3FD8-3148-4D7E-E64B64774EC0}"/>
              </a:ext>
            </a:extLst>
          </p:cNvPr>
          <p:cNvSpPr txBox="1"/>
          <p:nvPr/>
        </p:nvSpPr>
        <p:spPr>
          <a:xfrm>
            <a:off x="1535005" y="5391695"/>
            <a:ext cx="9983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DF4807"/>
                </a:solidFill>
              </a:rPr>
              <a:t>Take a screenshot and bring it back on the last day of the module to see how far you have come.</a:t>
            </a:r>
            <a:endParaRPr lang="en-DE" dirty="0">
              <a:solidFill>
                <a:srgbClr val="DF480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725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F172327-7D26-DB4D-ACBD-9C8154E425AE}"/>
              </a:ext>
            </a:extLst>
          </p:cNvPr>
          <p:cNvSpPr txBox="1">
            <a:spLocks/>
          </p:cNvSpPr>
          <p:nvPr/>
        </p:nvSpPr>
        <p:spPr>
          <a:xfrm>
            <a:off x="6960093" y="1823387"/>
            <a:ext cx="4722921" cy="26884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720000" indent="-36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buFont typeface="SRH" panose="020B0503020204020204" pitchFamily="34" charset="0"/>
              <a:buNone/>
              <a:defRPr sz="2000" b="1" kern="1200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SRH" panose="020B0503020204020204" pitchFamily="34" charset="0"/>
              <a:buNone/>
              <a:defRPr sz="2000" b="1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lvl="5"/>
            <a:r>
              <a:rPr lang="de-DE" sz="1800" b="1" dirty="0">
                <a:latin typeface="+mn-lt"/>
                <a:ea typeface="SRH Text" panose="020B0503020204020204" pitchFamily="34" charset="0"/>
                <a:cs typeface="SRH Text" panose="020B0503020204020204" pitchFamily="34" charset="0"/>
              </a:rPr>
              <a:t>Tasks:</a:t>
            </a:r>
          </a:p>
          <a:p>
            <a:pPr lvl="1"/>
            <a:r>
              <a:rPr lang="de-DE" dirty="0">
                <a:latin typeface="+mn-lt"/>
              </a:rPr>
              <a:t>Fill in the card within maximuim 5 minutes. </a:t>
            </a:r>
          </a:p>
          <a:p>
            <a:pPr lvl="1"/>
            <a:r>
              <a:rPr lang="de-DE" dirty="0">
                <a:latin typeface="+mn-lt"/>
              </a:rPr>
              <a:t>Share the card with </a:t>
            </a:r>
            <a:r>
              <a:rPr lang="de-DE" dirty="0"/>
              <a:t>your </a:t>
            </a:r>
            <a:r>
              <a:rPr lang="en-US" dirty="0"/>
              <a:t>neighboring colleague</a:t>
            </a:r>
            <a:r>
              <a:rPr lang="de-DE" dirty="0">
                <a:latin typeface="+mn-lt"/>
              </a:rPr>
              <a:t> 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9DB98F-F228-467A-9114-0FBDEDD8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 </a:t>
            </a:r>
            <a:r>
              <a:rPr lang="de-DE" dirty="0"/>
              <a:t>Variables about me</a:t>
            </a:r>
            <a:r>
              <a:rPr lang="en-GB" dirty="0"/>
              <a:t> “  card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0891A98-A671-4C71-B448-EE045F36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C536069-F797-4574-8F3D-4801EFFBBFAE}"/>
              </a:ext>
            </a:extLst>
          </p:cNvPr>
          <p:cNvGrpSpPr/>
          <p:nvPr/>
        </p:nvGrpSpPr>
        <p:grpSpPr>
          <a:xfrm>
            <a:off x="6960093" y="4749747"/>
            <a:ext cx="4346662" cy="835093"/>
            <a:chOff x="2521172" y="4325269"/>
            <a:chExt cx="3417615" cy="983504"/>
          </a:xfrm>
          <a:solidFill>
            <a:schemeClr val="accent2"/>
          </a:solidFill>
        </p:grpSpPr>
        <p:sp>
          <p:nvSpPr>
            <p:cNvPr id="12" name="Abgerundetes Rechteck 32">
              <a:extLst>
                <a:ext uri="{FF2B5EF4-FFF2-40B4-BE49-F238E27FC236}">
                  <a16:creationId xmlns:a16="http://schemas.microsoft.com/office/drawing/2014/main" id="{93E15C7A-2410-482C-AC02-62A106FE692C}"/>
                </a:ext>
              </a:extLst>
            </p:cNvPr>
            <p:cNvSpPr/>
            <p:nvPr/>
          </p:nvSpPr>
          <p:spPr>
            <a:xfrm>
              <a:off x="2521172" y="4325269"/>
              <a:ext cx="3417615" cy="983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GB" dirty="0"/>
                <a:t>You may share it with two colleagues.</a:t>
              </a:r>
              <a:endParaRPr lang="de-DE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EC81976-F7FD-40AD-8665-B86E23A74107}"/>
                </a:ext>
              </a:extLst>
            </p:cNvPr>
            <p:cNvSpPr/>
            <p:nvPr/>
          </p:nvSpPr>
          <p:spPr>
            <a:xfrm>
              <a:off x="2521172" y="5084034"/>
              <a:ext cx="640338" cy="2247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C735632-1336-FC74-F290-C57736885B14}"/>
              </a:ext>
            </a:extLst>
          </p:cNvPr>
          <p:cNvGrpSpPr/>
          <p:nvPr/>
        </p:nvGrpSpPr>
        <p:grpSpPr>
          <a:xfrm>
            <a:off x="270932" y="1698172"/>
            <a:ext cx="5731935" cy="2813670"/>
            <a:chOff x="270932" y="1698172"/>
            <a:chExt cx="5731935" cy="281367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7259B42E-5A51-2A43-A528-3688C63F3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8" t="3808" r="21022" b="31702"/>
            <a:stretch/>
          </p:blipFill>
          <p:spPr>
            <a:xfrm>
              <a:off x="270932" y="1698172"/>
              <a:ext cx="5731935" cy="281367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612B4C-391A-793F-9E59-02F883154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946" y="2393835"/>
              <a:ext cx="4810437" cy="1752845"/>
            </a:xfrm>
            <a:prstGeom prst="rect">
              <a:avLst/>
            </a:prstGeom>
          </p:spPr>
        </p:pic>
        <p:pic>
          <p:nvPicPr>
            <p:cNvPr id="14" name="Grafik 106">
              <a:extLst>
                <a:ext uri="{FF2B5EF4-FFF2-40B4-BE49-F238E27FC236}">
                  <a16:creationId xmlns:a16="http://schemas.microsoft.com/office/drawing/2014/main" id="{0E2077ED-6F9C-61F1-CAC2-FD14BEA00E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0000" y="1992834"/>
              <a:ext cx="297893" cy="2978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6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469F547-A6B8-4745-99CE-C728F651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Python in Data Science &amp; AI? 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BFF93C-949B-4DD9-8338-F6E85CB1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2" name="Freihandform 44">
            <a:extLst>
              <a:ext uri="{FF2B5EF4-FFF2-40B4-BE49-F238E27FC236}">
                <a16:creationId xmlns:a16="http://schemas.microsoft.com/office/drawing/2014/main" id="{ABB33E46-4B22-4D34-B499-7FE9A9DE396A}"/>
              </a:ext>
            </a:extLst>
          </p:cNvPr>
          <p:cNvSpPr/>
          <p:nvPr/>
        </p:nvSpPr>
        <p:spPr>
          <a:xfrm>
            <a:off x="4617126" y="2811738"/>
            <a:ext cx="2687569" cy="1144979"/>
          </a:xfrm>
          <a:custGeom>
            <a:avLst/>
            <a:gdLst>
              <a:gd name="connsiteX0" fmla="*/ 143913 w 2617195"/>
              <a:gd name="connsiteY0" fmla="*/ 0 h 863459"/>
              <a:gd name="connsiteX1" fmla="*/ 2473282 w 2617195"/>
              <a:gd name="connsiteY1" fmla="*/ 0 h 863459"/>
              <a:gd name="connsiteX2" fmla="*/ 2617195 w 2617195"/>
              <a:gd name="connsiteY2" fmla="*/ 143913 h 863459"/>
              <a:gd name="connsiteX3" fmla="*/ 2617195 w 2617195"/>
              <a:gd name="connsiteY3" fmla="*/ 505314 h 863459"/>
              <a:gd name="connsiteX4" fmla="*/ 2617195 w 2617195"/>
              <a:gd name="connsiteY4" fmla="*/ 719546 h 863459"/>
              <a:gd name="connsiteX5" fmla="*/ 2617195 w 2617195"/>
              <a:gd name="connsiteY5" fmla="*/ 862441 h 863459"/>
              <a:gd name="connsiteX6" fmla="*/ 2478324 w 2617195"/>
              <a:gd name="connsiteY6" fmla="*/ 862441 h 863459"/>
              <a:gd name="connsiteX7" fmla="*/ 2473282 w 2617195"/>
              <a:gd name="connsiteY7" fmla="*/ 863459 h 863459"/>
              <a:gd name="connsiteX8" fmla="*/ 143913 w 2617195"/>
              <a:gd name="connsiteY8" fmla="*/ 863459 h 863459"/>
              <a:gd name="connsiteX9" fmla="*/ 0 w 2617195"/>
              <a:gd name="connsiteY9" fmla="*/ 719546 h 863459"/>
              <a:gd name="connsiteX10" fmla="*/ 0 w 2617195"/>
              <a:gd name="connsiteY10" fmla="*/ 143913 h 863459"/>
              <a:gd name="connsiteX11" fmla="*/ 143913 w 2617195"/>
              <a:gd name="connsiteY11" fmla="*/ 0 h 863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17195" h="863459">
                <a:moveTo>
                  <a:pt x="143913" y="0"/>
                </a:moveTo>
                <a:lnTo>
                  <a:pt x="2473282" y="0"/>
                </a:lnTo>
                <a:cubicBezTo>
                  <a:pt x="2552763" y="0"/>
                  <a:pt x="2617195" y="64432"/>
                  <a:pt x="2617195" y="143913"/>
                </a:cubicBezTo>
                <a:lnTo>
                  <a:pt x="2617195" y="505314"/>
                </a:lnTo>
                <a:lnTo>
                  <a:pt x="2617195" y="719546"/>
                </a:lnTo>
                <a:lnTo>
                  <a:pt x="2617195" y="862441"/>
                </a:lnTo>
                <a:lnTo>
                  <a:pt x="2478324" y="862441"/>
                </a:lnTo>
                <a:lnTo>
                  <a:pt x="2473282" y="863459"/>
                </a:lnTo>
                <a:lnTo>
                  <a:pt x="143913" y="863459"/>
                </a:lnTo>
                <a:cubicBezTo>
                  <a:pt x="64432" y="863459"/>
                  <a:pt x="0" y="799027"/>
                  <a:pt x="0" y="719546"/>
                </a:cubicBezTo>
                <a:lnTo>
                  <a:pt x="0" y="143913"/>
                </a:lnTo>
                <a:cubicBezTo>
                  <a:pt x="0" y="64432"/>
                  <a:pt x="64432" y="0"/>
                  <a:pt x="14391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Readable Syntax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Code reads almost like English. Less time decoding syntax, more time solving problems</a:t>
            </a:r>
          </a:p>
        </p:txBody>
      </p:sp>
      <p:sp>
        <p:nvSpPr>
          <p:cNvPr id="13" name="Freihandform 43">
            <a:extLst>
              <a:ext uri="{FF2B5EF4-FFF2-40B4-BE49-F238E27FC236}">
                <a16:creationId xmlns:a16="http://schemas.microsoft.com/office/drawing/2014/main" id="{B5762BF8-E5B0-4587-AABB-66F491BAF127}"/>
              </a:ext>
            </a:extLst>
          </p:cNvPr>
          <p:cNvSpPr/>
          <p:nvPr/>
        </p:nvSpPr>
        <p:spPr>
          <a:xfrm>
            <a:off x="191220" y="2766973"/>
            <a:ext cx="2687569" cy="1234506"/>
          </a:xfrm>
          <a:custGeom>
            <a:avLst/>
            <a:gdLst>
              <a:gd name="connsiteX0" fmla="*/ 172680 w 2459596"/>
              <a:gd name="connsiteY0" fmla="*/ 0 h 1036059"/>
              <a:gd name="connsiteX1" fmla="*/ 2286915 w 2459596"/>
              <a:gd name="connsiteY1" fmla="*/ 0 h 1036059"/>
              <a:gd name="connsiteX2" fmla="*/ 2459595 w 2459596"/>
              <a:gd name="connsiteY2" fmla="*/ 172680 h 1036059"/>
              <a:gd name="connsiteX3" fmla="*/ 2459595 w 2459596"/>
              <a:gd name="connsiteY3" fmla="*/ 678932 h 1036059"/>
              <a:gd name="connsiteX4" fmla="*/ 2459596 w 2459596"/>
              <a:gd name="connsiteY4" fmla="*/ 678932 h 1036059"/>
              <a:gd name="connsiteX5" fmla="*/ 2459596 w 2459596"/>
              <a:gd name="connsiteY5" fmla="*/ 1036059 h 1036059"/>
              <a:gd name="connsiteX6" fmla="*/ 2286915 w 2459596"/>
              <a:gd name="connsiteY6" fmla="*/ 1036059 h 1036059"/>
              <a:gd name="connsiteX7" fmla="*/ 2055998 w 2459596"/>
              <a:gd name="connsiteY7" fmla="*/ 1036059 h 1036059"/>
              <a:gd name="connsiteX8" fmla="*/ 172680 w 2459596"/>
              <a:gd name="connsiteY8" fmla="*/ 1036059 h 1036059"/>
              <a:gd name="connsiteX9" fmla="*/ 0 w 2459596"/>
              <a:gd name="connsiteY9" fmla="*/ 863379 h 1036059"/>
              <a:gd name="connsiteX10" fmla="*/ 0 w 2459596"/>
              <a:gd name="connsiteY10" fmla="*/ 172680 h 1036059"/>
              <a:gd name="connsiteX11" fmla="*/ 172680 w 2459596"/>
              <a:gd name="connsiteY11" fmla="*/ 0 h 1036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59596" h="1036059">
                <a:moveTo>
                  <a:pt x="172680" y="0"/>
                </a:moveTo>
                <a:lnTo>
                  <a:pt x="2286915" y="0"/>
                </a:lnTo>
                <a:cubicBezTo>
                  <a:pt x="2382284" y="0"/>
                  <a:pt x="2459595" y="77311"/>
                  <a:pt x="2459595" y="172680"/>
                </a:cubicBezTo>
                <a:lnTo>
                  <a:pt x="2459595" y="678932"/>
                </a:lnTo>
                <a:lnTo>
                  <a:pt x="2459596" y="678932"/>
                </a:lnTo>
                <a:lnTo>
                  <a:pt x="2459596" y="1036059"/>
                </a:lnTo>
                <a:lnTo>
                  <a:pt x="2286915" y="1036059"/>
                </a:lnTo>
                <a:lnTo>
                  <a:pt x="2055998" y="1036059"/>
                </a:lnTo>
                <a:lnTo>
                  <a:pt x="172680" y="1036059"/>
                </a:lnTo>
                <a:cubicBezTo>
                  <a:pt x="77311" y="1036059"/>
                  <a:pt x="0" y="958748"/>
                  <a:pt x="0" y="863379"/>
                </a:cubicBezTo>
                <a:lnTo>
                  <a:pt x="0" y="172680"/>
                </a:lnTo>
                <a:cubicBezTo>
                  <a:pt x="0" y="77311"/>
                  <a:pt x="77311" y="0"/>
                  <a:pt x="17268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Rich Ecosystem</a:t>
            </a:r>
            <a:endParaRPr lang="en-US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NumPy · Pandas · Matplotlib · Scikit-learn · TensorFlow, all in one language</a:t>
            </a:r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de-DE" dirty="0"/>
          </a:p>
        </p:txBody>
      </p:sp>
      <p:sp>
        <p:nvSpPr>
          <p:cNvPr id="21" name="Freihandform 44">
            <a:extLst>
              <a:ext uri="{FF2B5EF4-FFF2-40B4-BE49-F238E27FC236}">
                <a16:creationId xmlns:a16="http://schemas.microsoft.com/office/drawing/2014/main" id="{6EF536A3-E765-4F87-A506-FBF04C8CEEDE}"/>
              </a:ext>
            </a:extLst>
          </p:cNvPr>
          <p:cNvSpPr/>
          <p:nvPr/>
        </p:nvSpPr>
        <p:spPr>
          <a:xfrm>
            <a:off x="9043032" y="2811737"/>
            <a:ext cx="2687569" cy="1144979"/>
          </a:xfrm>
          <a:custGeom>
            <a:avLst/>
            <a:gdLst>
              <a:gd name="connsiteX0" fmla="*/ 143913 w 2617195"/>
              <a:gd name="connsiteY0" fmla="*/ 0 h 863459"/>
              <a:gd name="connsiteX1" fmla="*/ 2473282 w 2617195"/>
              <a:gd name="connsiteY1" fmla="*/ 0 h 863459"/>
              <a:gd name="connsiteX2" fmla="*/ 2617195 w 2617195"/>
              <a:gd name="connsiteY2" fmla="*/ 143913 h 863459"/>
              <a:gd name="connsiteX3" fmla="*/ 2617195 w 2617195"/>
              <a:gd name="connsiteY3" fmla="*/ 505314 h 863459"/>
              <a:gd name="connsiteX4" fmla="*/ 2617195 w 2617195"/>
              <a:gd name="connsiteY4" fmla="*/ 719546 h 863459"/>
              <a:gd name="connsiteX5" fmla="*/ 2617195 w 2617195"/>
              <a:gd name="connsiteY5" fmla="*/ 862441 h 863459"/>
              <a:gd name="connsiteX6" fmla="*/ 2478324 w 2617195"/>
              <a:gd name="connsiteY6" fmla="*/ 862441 h 863459"/>
              <a:gd name="connsiteX7" fmla="*/ 2473282 w 2617195"/>
              <a:gd name="connsiteY7" fmla="*/ 863459 h 863459"/>
              <a:gd name="connsiteX8" fmla="*/ 143913 w 2617195"/>
              <a:gd name="connsiteY8" fmla="*/ 863459 h 863459"/>
              <a:gd name="connsiteX9" fmla="*/ 0 w 2617195"/>
              <a:gd name="connsiteY9" fmla="*/ 719546 h 863459"/>
              <a:gd name="connsiteX10" fmla="*/ 0 w 2617195"/>
              <a:gd name="connsiteY10" fmla="*/ 143913 h 863459"/>
              <a:gd name="connsiteX11" fmla="*/ 143913 w 2617195"/>
              <a:gd name="connsiteY11" fmla="*/ 0 h 863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17195" h="863459">
                <a:moveTo>
                  <a:pt x="143913" y="0"/>
                </a:moveTo>
                <a:lnTo>
                  <a:pt x="2473282" y="0"/>
                </a:lnTo>
                <a:cubicBezTo>
                  <a:pt x="2552763" y="0"/>
                  <a:pt x="2617195" y="64432"/>
                  <a:pt x="2617195" y="143913"/>
                </a:cubicBezTo>
                <a:lnTo>
                  <a:pt x="2617195" y="505314"/>
                </a:lnTo>
                <a:lnTo>
                  <a:pt x="2617195" y="719546"/>
                </a:lnTo>
                <a:lnTo>
                  <a:pt x="2617195" y="862441"/>
                </a:lnTo>
                <a:lnTo>
                  <a:pt x="2478324" y="862441"/>
                </a:lnTo>
                <a:lnTo>
                  <a:pt x="2473282" y="863459"/>
                </a:lnTo>
                <a:lnTo>
                  <a:pt x="143913" y="863459"/>
                </a:lnTo>
                <a:cubicBezTo>
                  <a:pt x="64432" y="863459"/>
                  <a:pt x="0" y="799027"/>
                  <a:pt x="0" y="719546"/>
                </a:cubicBezTo>
                <a:lnTo>
                  <a:pt x="0" y="143913"/>
                </a:lnTo>
                <a:cubicBezTo>
                  <a:pt x="0" y="64432"/>
                  <a:pt x="64432" y="0"/>
                  <a:pt x="1439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Industry Standard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Used at Google, Meta, Nasa #1 language in Kaggle surveys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B8764-3262-ED8D-CD30-6E823C7A1651}"/>
              </a:ext>
            </a:extLst>
          </p:cNvPr>
          <p:cNvSpPr txBox="1"/>
          <p:nvPr/>
        </p:nvSpPr>
        <p:spPr>
          <a:xfrm>
            <a:off x="1503074" y="5115534"/>
            <a:ext cx="9983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DF4807"/>
                </a:solidFill>
              </a:rPr>
              <a:t>Huge open-source community.  A solution to almost any problem is a search way.</a:t>
            </a:r>
            <a:endParaRPr lang="en-DE" dirty="0">
              <a:solidFill>
                <a:srgbClr val="DF48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6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1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1781-2246-025C-10BD-100FEA1C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F532204D-8275-4821-867A-F3FEA7F8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 Data Types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DD41EF-1D54-8E7E-F777-CD604924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808F25-94D8-15A9-045C-358F7382FABF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de-DE" b="1" dirty="0">
                <a:solidFill>
                  <a:schemeClr val="accent1"/>
                </a:solidFill>
              </a:rPr>
              <a:t>A variable </a:t>
            </a:r>
            <a:r>
              <a:rPr lang="de-DE" dirty="0"/>
              <a:t>is a named label that points to a value stored in memory. </a:t>
            </a:r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E710E9-B578-F2EE-F7F0-8BDFBDAD87E2}"/>
              </a:ext>
            </a:extLst>
          </p:cNvPr>
          <p:cNvGrpSpPr/>
          <p:nvPr/>
        </p:nvGrpSpPr>
        <p:grpSpPr>
          <a:xfrm>
            <a:off x="2514945" y="2656374"/>
            <a:ext cx="5272624" cy="2464267"/>
            <a:chOff x="2514945" y="2656374"/>
            <a:chExt cx="5272624" cy="2464267"/>
          </a:xfrm>
        </p:grpSpPr>
        <p:pic>
          <p:nvPicPr>
            <p:cNvPr id="13" name="Grafik 5">
              <a:extLst>
                <a:ext uri="{FF2B5EF4-FFF2-40B4-BE49-F238E27FC236}">
                  <a16:creationId xmlns:a16="http://schemas.microsoft.com/office/drawing/2014/main" id="{0FD2AC1C-1E0A-377F-552C-A9DF2BECCC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8" t="3808" r="21022" b="31702"/>
            <a:stretch/>
          </p:blipFill>
          <p:spPr>
            <a:xfrm>
              <a:off x="2514945" y="2656374"/>
              <a:ext cx="5272624" cy="2464267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35FD99A-6257-6835-0505-01DF196D9018}"/>
                </a:ext>
              </a:extLst>
            </p:cNvPr>
            <p:cNvGrpSpPr/>
            <p:nvPr/>
          </p:nvGrpSpPr>
          <p:grpSpPr>
            <a:xfrm>
              <a:off x="2589082" y="3063658"/>
              <a:ext cx="4854858" cy="1737360"/>
              <a:chOff x="2589082" y="3063658"/>
              <a:chExt cx="4854858" cy="1737360"/>
            </a:xfrm>
          </p:grpSpPr>
          <p:sp>
            <p:nvSpPr>
              <p:cNvPr id="18" name="Shape 6">
                <a:extLst>
                  <a:ext uri="{FF2B5EF4-FFF2-40B4-BE49-F238E27FC236}">
                    <a16:creationId xmlns:a16="http://schemas.microsoft.com/office/drawing/2014/main" id="{3216CCB2-2724-782E-B673-3428FABCB457}"/>
                  </a:ext>
                </a:extLst>
              </p:cNvPr>
              <p:cNvSpPr/>
              <p:nvPr/>
            </p:nvSpPr>
            <p:spPr>
              <a:xfrm>
                <a:off x="2589082" y="3063658"/>
                <a:ext cx="4663440" cy="1737360"/>
              </a:xfrm>
              <a:prstGeom prst="rect">
                <a:avLst/>
              </a:prstGeom>
              <a:solidFill>
                <a:srgbClr val="021E30"/>
              </a:solidFill>
              <a:ln w="19050">
                <a:solidFill>
                  <a:srgbClr val="0D7377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DE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9" name="Text 7">
                <a:extLst>
                  <a:ext uri="{FF2B5EF4-FFF2-40B4-BE49-F238E27FC236}">
                    <a16:creationId xmlns:a16="http://schemas.microsoft.com/office/drawing/2014/main" id="{378689BF-BE34-5EFF-F75A-A4533B090912}"/>
                  </a:ext>
                </a:extLst>
              </p:cNvPr>
              <p:cNvSpPr/>
              <p:nvPr/>
            </p:nvSpPr>
            <p:spPr>
              <a:xfrm>
                <a:off x="2963380" y="3209962"/>
                <a:ext cx="4480560" cy="1591056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# Declaring variables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first_name = 'Tom'      # str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age        = 69         # int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height     = 1.83       # float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is_married = False      # bool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skills     = ['Actor', 'Director']  # list</a:t>
                </a:r>
                <a:endParaRPr lang="en-US" sz="1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info       = {'city': 'Berlin'}     # </a:t>
                </a:r>
                <a:r>
                  <a:rPr lang="en-US" sz="1050" dirty="0" err="1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dict</a:t>
                </a:r>
                <a:endPara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print(type(info))  </a:t>
                </a:r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</a:rPr>
                  <a:t># &lt;class '</a:t>
                </a:r>
                <a:r>
                  <a:rPr lang="en-US" sz="1050" dirty="0" err="1">
                    <a:solidFill>
                      <a:srgbClr val="A8D8A8"/>
                    </a:solidFill>
                    <a:latin typeface="Consolas" pitchFamily="34" charset="0"/>
                  </a:rPr>
                  <a:t>dict</a:t>
                </a:r>
                <a:r>
                  <a:rPr lang="en-US" sz="1050" dirty="0">
                    <a:solidFill>
                      <a:srgbClr val="A8D8A8"/>
                    </a:solidFill>
                    <a:latin typeface="Consolas" pitchFamily="34" charset="0"/>
                  </a:rPr>
                  <a:t>'&gt;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F9C0FF-CA08-8F6C-13C2-0430F02BCA28}"/>
              </a:ext>
            </a:extLst>
          </p:cNvPr>
          <p:cNvGrpSpPr/>
          <p:nvPr/>
        </p:nvGrpSpPr>
        <p:grpSpPr>
          <a:xfrm>
            <a:off x="505698" y="1980470"/>
            <a:ext cx="9431983" cy="685800"/>
            <a:chOff x="505698" y="1980470"/>
            <a:chExt cx="9431983" cy="685800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2394F94-2C95-A271-8298-91F4CF159D1B}"/>
                </a:ext>
              </a:extLst>
            </p:cNvPr>
            <p:cNvSpPr/>
            <p:nvPr/>
          </p:nvSpPr>
          <p:spPr>
            <a:xfrm>
              <a:off x="505698" y="1980470"/>
              <a:ext cx="9431983" cy="685800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DF4807"/>
              </a:solidFill>
              <a:prstDash val="solid"/>
            </a:ln>
          </p:spPr>
          <p:txBody>
            <a:bodyPr/>
            <a:lstStyle/>
            <a:p>
              <a:r>
                <a:rPr lang="en-US" dirty="0">
                  <a:ea typeface="SRH Text" panose="020B0503020204020204" pitchFamily="34" charset="0"/>
                  <a:cs typeface="SRH Text" panose="020B0503020204020204" pitchFamily="34" charset="0"/>
                </a:rPr>
                <a:t>     </a:t>
              </a:r>
              <a:r>
                <a:rPr lang="en-US" dirty="0">
                  <a:solidFill>
                    <a:schemeClr val="bg1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Analogy: Think of a variable as a labelled box. The label is the name (e.g., age), the box holds the value (e.g. 69). You can re-label the box at any time.</a:t>
              </a:r>
            </a:p>
          </p:txBody>
        </p:sp>
        <p:pic>
          <p:nvPicPr>
            <p:cNvPr id="27" name="Grafik 188">
              <a:extLst>
                <a:ext uri="{FF2B5EF4-FFF2-40B4-BE49-F238E27FC236}">
                  <a16:creationId xmlns:a16="http://schemas.microsoft.com/office/drawing/2014/main" id="{897956C9-4730-D09A-EE66-0A433357EF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9308" y="2041889"/>
              <a:ext cx="281481" cy="28148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34AE2C4-E500-2A67-D694-E3B6B106C9B4}"/>
              </a:ext>
            </a:extLst>
          </p:cNvPr>
          <p:cNvGrpSpPr/>
          <p:nvPr/>
        </p:nvGrpSpPr>
        <p:grpSpPr>
          <a:xfrm>
            <a:off x="1929220" y="5120641"/>
            <a:ext cx="8139464" cy="1057549"/>
            <a:chOff x="1929220" y="5120641"/>
            <a:chExt cx="8139464" cy="1057549"/>
          </a:xfrm>
        </p:grpSpPr>
        <p:sp>
          <p:nvSpPr>
            <p:cNvPr id="6" name="Abgerundetes Rechteck 32">
              <a:extLst>
                <a:ext uri="{FF2B5EF4-FFF2-40B4-BE49-F238E27FC236}">
                  <a16:creationId xmlns:a16="http://schemas.microsoft.com/office/drawing/2014/main" id="{11039B9F-828A-D3F9-6A15-FA1004DF1589}"/>
                </a:ext>
              </a:extLst>
            </p:cNvPr>
            <p:cNvSpPr/>
            <p:nvPr/>
          </p:nvSpPr>
          <p:spPr>
            <a:xfrm>
              <a:off x="2261178" y="5343097"/>
              <a:ext cx="5921022" cy="83509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US" i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Python is dynamically typed, no need to declare the type explicitly. The interpreter infers it. </a:t>
              </a:r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2767AD94-E888-578B-6E7B-89C62CFA9EC4}"/>
                </a:ext>
              </a:extLst>
            </p:cNvPr>
            <p:cNvSpPr/>
            <p:nvPr/>
          </p:nvSpPr>
          <p:spPr>
            <a:xfrm>
              <a:off x="8351081" y="5522341"/>
              <a:ext cx="1717603" cy="476604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DF4807"/>
              </a:solidFill>
              <a:prstDash val="solid"/>
            </a:ln>
          </p:spPr>
          <p:txBody>
            <a:bodyPr/>
            <a:lstStyle/>
            <a:p>
              <a:r>
                <a:rPr lang="en-GB" sz="1200" dirty="0"/>
                <a:t>Use </a:t>
              </a:r>
              <a:r>
                <a:rPr lang="en-GB" sz="1200" b="1" dirty="0"/>
                <a:t>type() </a:t>
              </a:r>
              <a:r>
                <a:rPr lang="en-GB" sz="1200" dirty="0"/>
                <a:t>to inspect any variable's type.</a:t>
              </a:r>
              <a:endParaRPr lang="en-GB" dirty="0"/>
            </a:p>
          </p:txBody>
        </p:sp>
        <p:pic>
          <p:nvPicPr>
            <p:cNvPr id="12" name="Grafik 189">
              <a:extLst>
                <a:ext uri="{FF2B5EF4-FFF2-40B4-BE49-F238E27FC236}">
                  <a16:creationId xmlns:a16="http://schemas.microsoft.com/office/drawing/2014/main" id="{1D813F67-52C2-906D-D8D7-0394AAA15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29220" y="5120641"/>
              <a:ext cx="331958" cy="331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137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8B21-DFB1-C340-D9AF-871CB7B9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3C8D0CB-02F6-09C7-B389-8E3A682D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 Data Types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EBABCE-6EC6-D223-5E67-2C935676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B07D4-2453-0096-655A-B5A790EA2C1A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8C6BC13-B39D-23B4-48E3-63BC72852EB5}"/>
              </a:ext>
            </a:extLst>
          </p:cNvPr>
          <p:cNvSpPr/>
          <p:nvPr/>
        </p:nvSpPr>
        <p:spPr>
          <a:xfrm>
            <a:off x="5951503" y="314018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 → 'Tom'  &lt;class 'str'&gt;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→ 69     &lt;class 'int'&gt;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→ 1.83   &lt;class 'float'&gt;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 → False  &lt;class 'bool'&gt;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3585CDC5-E34A-C322-FF19-8BF7D2F96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59136"/>
              </p:ext>
            </p:extLst>
          </p:nvPr>
        </p:nvGraphicFramePr>
        <p:xfrm>
          <a:off x="1106580" y="1356360"/>
          <a:ext cx="8778240" cy="20726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Type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Description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Example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Result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int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Whole numbers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age = 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float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Decimal numbers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height = 1.83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1.83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str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Text (in quotes)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name = 'Tom'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'Tom'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bool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True or False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married =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list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Ordered, 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nums = [1, 2,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[1, 2,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tuple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Ordered, immutable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films = ('A', 'B')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('A', 'B')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</a:rPr>
                        <a:t>dict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Key → Value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{'city': 'Berlin'}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{'city': 'Berlin'}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3A2D60CE-744B-2D60-573F-D6257D82F175}"/>
              </a:ext>
            </a:extLst>
          </p:cNvPr>
          <p:cNvGrpSpPr/>
          <p:nvPr/>
        </p:nvGrpSpPr>
        <p:grpSpPr>
          <a:xfrm>
            <a:off x="1981234" y="4598603"/>
            <a:ext cx="6431246" cy="903037"/>
            <a:chOff x="1981234" y="4598603"/>
            <a:chExt cx="6431246" cy="903037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8296E311-3D9B-DC0C-DFD5-0F130C275380}"/>
                </a:ext>
              </a:extLst>
            </p:cNvPr>
            <p:cNvSpPr/>
            <p:nvPr/>
          </p:nvSpPr>
          <p:spPr>
            <a:xfrm>
              <a:off x="2535190" y="4666547"/>
              <a:ext cx="5877290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Week1.ipynb</a:t>
              </a:r>
              <a:r>
                <a:rPr lang="en-GB" sz="1600" dirty="0"/>
                <a:t>, navigate to the section “</a:t>
              </a:r>
              <a:r>
                <a:rPr lang="en-GB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Variables and Basic Data Types</a:t>
              </a:r>
              <a:r>
                <a:rPr lang="en-GB" sz="1600" dirty="0"/>
                <a:t>” and experiment with the code in the </a:t>
              </a:r>
              <a:r>
                <a:rPr lang="en-GB" sz="1600" b="1" dirty="0">
                  <a:solidFill>
                    <a:srgbClr val="FF0000"/>
                  </a:solidFill>
                </a:rPr>
                <a:t>two</a:t>
              </a:r>
              <a:r>
                <a:rPr lang="en-GB" sz="1600" dirty="0"/>
                <a:t> cells below.</a:t>
              </a:r>
            </a:p>
          </p:txBody>
        </p:sp>
        <p:pic>
          <p:nvPicPr>
            <p:cNvPr id="13" name="Grafik 208">
              <a:extLst>
                <a:ext uri="{FF2B5EF4-FFF2-40B4-BE49-F238E27FC236}">
                  <a16:creationId xmlns:a16="http://schemas.microsoft.com/office/drawing/2014/main" id="{4BBD70CA-5432-D0D8-96FB-7619B9F9FB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81234" y="4598603"/>
              <a:ext cx="436474" cy="43647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87F9577-4A0F-0F80-E457-23E9D94D3A6E}"/>
              </a:ext>
            </a:extLst>
          </p:cNvPr>
          <p:cNvGrpSpPr/>
          <p:nvPr/>
        </p:nvGrpSpPr>
        <p:grpSpPr>
          <a:xfrm>
            <a:off x="1981234" y="3615666"/>
            <a:ext cx="6431245" cy="835093"/>
            <a:chOff x="1981234" y="3615666"/>
            <a:chExt cx="6431245" cy="835093"/>
          </a:xfrm>
        </p:grpSpPr>
        <p:sp>
          <p:nvSpPr>
            <p:cNvPr id="15" name="Abgerundetes Rechteck 32">
              <a:extLst>
                <a:ext uri="{FF2B5EF4-FFF2-40B4-BE49-F238E27FC236}">
                  <a16:creationId xmlns:a16="http://schemas.microsoft.com/office/drawing/2014/main" id="{63EC21AB-B8D9-9990-518B-D16C8CA49BC1}"/>
                </a:ext>
              </a:extLst>
            </p:cNvPr>
            <p:cNvSpPr/>
            <p:nvPr/>
          </p:nvSpPr>
          <p:spPr>
            <a:xfrm>
              <a:off x="2491457" y="3615666"/>
              <a:ext cx="5921022" cy="83509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rgbClr val="AAA3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marL="342900" indent="-342900">
                <a:buAutoNum type="arabicPeriod"/>
              </a:pPr>
              <a:r>
                <a:rPr lang="en-US" i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What is the difference between a list and a tuple?</a:t>
              </a:r>
            </a:p>
            <a:p>
              <a:pPr marL="342900" indent="-342900">
                <a:buAutoNum type="arabicPeriod"/>
              </a:pPr>
              <a:r>
                <a:rPr lang="en-US" i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When would you use a </a:t>
              </a:r>
              <a:r>
                <a:rPr lang="en-US" i="1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dict</a:t>
              </a:r>
              <a:r>
                <a:rPr lang="en-US" i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instead of a list?</a:t>
              </a:r>
              <a:endParaRPr lang="de-DE" dirty="0">
                <a:solidFill>
                  <a:schemeClr val="bg1"/>
                </a:solidFill>
              </a:endParaRPr>
            </a:p>
          </p:txBody>
        </p:sp>
        <p:pic>
          <p:nvPicPr>
            <p:cNvPr id="21" name="Grafik 125">
              <a:extLst>
                <a:ext uri="{FF2B5EF4-FFF2-40B4-BE49-F238E27FC236}">
                  <a16:creationId xmlns:a16="http://schemas.microsoft.com/office/drawing/2014/main" id="{D18D146F-D393-6D2D-3C2A-D1FFA32D71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81234" y="3615666"/>
              <a:ext cx="436474" cy="4364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A617A39-985F-0307-3AC0-5280BA096FF2}"/>
              </a:ext>
            </a:extLst>
          </p:cNvPr>
          <p:cNvGrpSpPr/>
          <p:nvPr/>
        </p:nvGrpSpPr>
        <p:grpSpPr>
          <a:xfrm>
            <a:off x="1981234" y="5581540"/>
            <a:ext cx="6474977" cy="924658"/>
            <a:chOff x="1981234" y="5581540"/>
            <a:chExt cx="6474977" cy="924658"/>
          </a:xfrm>
        </p:grpSpPr>
        <p:pic>
          <p:nvPicPr>
            <p:cNvPr id="28" name="Grafik 216">
              <a:extLst>
                <a:ext uri="{FF2B5EF4-FFF2-40B4-BE49-F238E27FC236}">
                  <a16:creationId xmlns:a16="http://schemas.microsoft.com/office/drawing/2014/main" id="{8621A960-4C29-0F7F-2FA8-397F387409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81234" y="5581540"/>
              <a:ext cx="436474" cy="436474"/>
            </a:xfrm>
            <a:prstGeom prst="rect">
              <a:avLst/>
            </a:prstGeom>
          </p:spPr>
        </p:pic>
        <p:sp>
          <p:nvSpPr>
            <p:cNvPr id="29" name="Abgerundetes Rechteck 32">
              <a:extLst>
                <a:ext uri="{FF2B5EF4-FFF2-40B4-BE49-F238E27FC236}">
                  <a16:creationId xmlns:a16="http://schemas.microsoft.com/office/drawing/2014/main" id="{EBC4E874-3292-C330-AA7D-284A71C1025D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7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Problems 1 &amp;2</a:t>
              </a:r>
              <a:r>
                <a:rPr lang="en-GB" dirty="0"/>
                <a:t>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839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D658-D1A7-04DA-2DA3-A9BDF608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E08B7C7-58EA-2444-BA64-42729233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 Data Types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C60179-7EFF-4F51-7A80-C91321B9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C0E0AF-D8F9-E34A-D412-9C8C911EEDB7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f-strings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are the recommended way to embed variables in strings. </a:t>
            </a:r>
            <a:endParaRPr lang="en-US" dirty="0"/>
          </a:p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D1DD52-35F6-5555-5FA6-4A082451ED3A}"/>
              </a:ext>
            </a:extLst>
          </p:cNvPr>
          <p:cNvGrpSpPr/>
          <p:nvPr/>
        </p:nvGrpSpPr>
        <p:grpSpPr>
          <a:xfrm>
            <a:off x="505698" y="1980470"/>
            <a:ext cx="9431983" cy="685800"/>
            <a:chOff x="505698" y="1980470"/>
            <a:chExt cx="9431983" cy="685800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6AD4BF48-E99F-AE90-828F-9F3B2616CBA8}"/>
                </a:ext>
              </a:extLst>
            </p:cNvPr>
            <p:cNvSpPr/>
            <p:nvPr/>
          </p:nvSpPr>
          <p:spPr>
            <a:xfrm>
              <a:off x="505698" y="1980470"/>
              <a:ext cx="9431983" cy="685800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DF4807"/>
              </a:solidFill>
              <a:prstDash val="solid"/>
            </a:ln>
          </p:spPr>
          <p:txBody>
            <a:bodyPr/>
            <a:lstStyle/>
            <a:p>
              <a:r>
                <a:rPr lang="en-US" dirty="0">
                  <a:ea typeface="SRH Text" panose="020B0503020204020204" pitchFamily="34" charset="0"/>
                  <a:cs typeface="SRH Text" panose="020B0503020204020204" pitchFamily="34" charset="0"/>
                </a:rPr>
                <a:t>     </a:t>
              </a:r>
              <a:r>
                <a:rPr lang="en-US" dirty="0">
                  <a:solidFill>
                    <a:schemeClr val="bg1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Syntax: Prefix with f and wrap </a:t>
              </a:r>
              <a:r>
                <a:rPr lang="en-US" dirty="0">
                  <a:solidFill>
                    <a:srgbClr val="DF4807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variables</a:t>
              </a:r>
              <a:r>
                <a:rPr lang="en-US" dirty="0">
                  <a:solidFill>
                    <a:schemeClr val="bg1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 in </a:t>
              </a:r>
              <a:r>
                <a:rPr lang="en-US" b="1" dirty="0">
                  <a:solidFill>
                    <a:schemeClr val="bg1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{ }</a:t>
              </a:r>
              <a:r>
                <a:rPr lang="en-US" dirty="0">
                  <a:solidFill>
                    <a:schemeClr val="bg1"/>
                  </a:solidFill>
                  <a:ea typeface="SRH Text" panose="020B0503020204020204" pitchFamily="34" charset="0"/>
                  <a:cs typeface="SRH Text" panose="020B0503020204020204" pitchFamily="34" charset="0"/>
                </a:rPr>
                <a:t>.</a:t>
              </a:r>
            </a:p>
          </p:txBody>
        </p:sp>
        <p:pic>
          <p:nvPicPr>
            <p:cNvPr id="27" name="Grafik 188">
              <a:extLst>
                <a:ext uri="{FF2B5EF4-FFF2-40B4-BE49-F238E27FC236}">
                  <a16:creationId xmlns:a16="http://schemas.microsoft.com/office/drawing/2014/main" id="{A67FF386-A1C5-544E-BB8A-00546D884E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9308" y="2041889"/>
              <a:ext cx="281481" cy="28148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4F6F26-E50B-F74C-3812-677F8AB5962C}"/>
              </a:ext>
            </a:extLst>
          </p:cNvPr>
          <p:cNvGrpSpPr/>
          <p:nvPr/>
        </p:nvGrpSpPr>
        <p:grpSpPr>
          <a:xfrm>
            <a:off x="2165931" y="5482505"/>
            <a:ext cx="6242256" cy="1064981"/>
            <a:chOff x="2165931" y="5482505"/>
            <a:chExt cx="6242256" cy="1064981"/>
          </a:xfrm>
        </p:grpSpPr>
        <p:sp>
          <p:nvSpPr>
            <p:cNvPr id="6" name="Abgerundetes Rechteck 32">
              <a:extLst>
                <a:ext uri="{FF2B5EF4-FFF2-40B4-BE49-F238E27FC236}">
                  <a16:creationId xmlns:a16="http://schemas.microsoft.com/office/drawing/2014/main" id="{EDCDCD4E-FA9B-FBBE-0009-4E5D15D83422}"/>
                </a:ext>
              </a:extLst>
            </p:cNvPr>
            <p:cNvSpPr/>
            <p:nvPr/>
          </p:nvSpPr>
          <p:spPr>
            <a:xfrm>
              <a:off x="2487165" y="5712393"/>
              <a:ext cx="5921022" cy="83509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US" i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Rule of thumb: use f-string whenever you need to mix variables and text.</a:t>
              </a:r>
              <a:endParaRPr lang="de-DE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fik 189">
              <a:extLst>
                <a:ext uri="{FF2B5EF4-FFF2-40B4-BE49-F238E27FC236}">
                  <a16:creationId xmlns:a16="http://schemas.microsoft.com/office/drawing/2014/main" id="{1266CBB5-861F-6CC9-2C17-92DB3B8F12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65931" y="5482505"/>
              <a:ext cx="331958" cy="33195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55AE88-C654-64CF-4798-10E33F9FCD52}"/>
              </a:ext>
            </a:extLst>
          </p:cNvPr>
          <p:cNvGrpSpPr/>
          <p:nvPr/>
        </p:nvGrpSpPr>
        <p:grpSpPr>
          <a:xfrm>
            <a:off x="505698" y="2766082"/>
            <a:ext cx="3962935" cy="2121408"/>
            <a:chOff x="505698" y="2766082"/>
            <a:chExt cx="3962935" cy="2121408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C5A9AE82-0CAD-3A1D-28E1-C138135D2741}"/>
                </a:ext>
              </a:extLst>
            </p:cNvPr>
            <p:cNvSpPr/>
            <p:nvPr/>
          </p:nvSpPr>
          <p:spPr>
            <a:xfrm>
              <a:off x="505698" y="2766082"/>
              <a:ext cx="3962935" cy="1074398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7BF1F07A-DDAD-6153-DB02-C62A7D28C238}"/>
                </a:ext>
              </a:extLst>
            </p:cNvPr>
            <p:cNvSpPr/>
            <p:nvPr/>
          </p:nvSpPr>
          <p:spPr>
            <a:xfrm>
              <a:off x="597138" y="2839234"/>
              <a:ext cx="3601151" cy="204825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Old style — verbose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name = "Tom"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age  = 69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print("Hello, my name is " + name + " and I am " + str(age))</a:t>
              </a:r>
              <a:endParaRPr lang="en-US" sz="1050" dirty="0"/>
            </a:p>
            <a:p>
              <a:pPr marL="0" indent="0">
                <a:buNone/>
              </a:pPr>
              <a:endParaRPr lang="en-US" sz="1050" dirty="0"/>
            </a:p>
          </p:txBody>
        </p:sp>
      </p:grpSp>
      <p:sp>
        <p:nvSpPr>
          <p:cNvPr id="8" name="Shape 4">
            <a:extLst>
              <a:ext uri="{FF2B5EF4-FFF2-40B4-BE49-F238E27FC236}">
                <a16:creationId xmlns:a16="http://schemas.microsoft.com/office/drawing/2014/main" id="{079B12C4-B79A-D46F-0F73-3F76852224DC}"/>
              </a:ext>
            </a:extLst>
          </p:cNvPr>
          <p:cNvSpPr/>
          <p:nvPr/>
        </p:nvSpPr>
        <p:spPr>
          <a:xfrm>
            <a:off x="505698" y="4023002"/>
            <a:ext cx="3962935" cy="1074398"/>
          </a:xfrm>
          <a:prstGeom prst="rect">
            <a:avLst/>
          </a:prstGeom>
          <a:solidFill>
            <a:srgbClr val="1E2433"/>
          </a:solidFill>
          <a:ln w="190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— clean &amp; modern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f"Hello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, my name is {name} and I am {age}.")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f"Height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: {1.83:.1f}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metres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")  # format float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D8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print(f"2 + 2 = {2 + 2}")   # expressions work too!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25B8C7-5A2C-586F-1CC1-920FB91AF9B0}"/>
              </a:ext>
            </a:extLst>
          </p:cNvPr>
          <p:cNvGrpSpPr/>
          <p:nvPr/>
        </p:nvGrpSpPr>
        <p:grpSpPr>
          <a:xfrm>
            <a:off x="5090905" y="4023002"/>
            <a:ext cx="3383280" cy="1074398"/>
            <a:chOff x="5090905" y="4023002"/>
            <a:chExt cx="3383280" cy="1074398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A346D637-6E47-D973-1495-9B3E55799A9C}"/>
                </a:ext>
              </a:extLst>
            </p:cNvPr>
            <p:cNvSpPr/>
            <p:nvPr/>
          </p:nvSpPr>
          <p:spPr>
            <a:xfrm>
              <a:off x="5090905" y="4023002"/>
              <a:ext cx="3383280" cy="1074398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46311295-0A9B-4612-E169-E89D538F398A}"/>
                </a:ext>
              </a:extLst>
            </p:cNvPr>
            <p:cNvSpPr/>
            <p:nvPr/>
          </p:nvSpPr>
          <p:spPr>
            <a:xfrm>
              <a:off x="5111845" y="405641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800" dirty="0"/>
            </a:p>
          </p:txBody>
        </p:sp>
      </p:grpSp>
      <p:sp>
        <p:nvSpPr>
          <p:cNvPr id="15" name="Text 8">
            <a:extLst>
              <a:ext uri="{FF2B5EF4-FFF2-40B4-BE49-F238E27FC236}">
                <a16:creationId xmlns:a16="http://schemas.microsoft.com/office/drawing/2014/main" id="{8ECD34C0-0579-CF9D-43A4-7571A2C53A68}"/>
              </a:ext>
            </a:extLst>
          </p:cNvPr>
          <p:cNvSpPr/>
          <p:nvPr/>
        </p:nvSpPr>
        <p:spPr>
          <a:xfrm>
            <a:off x="5090905" y="42810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my name is Tom and I am 69.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1.8 metres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 = 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5441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09F2-58F3-9AFD-AF98-D8C877F7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087B68A7-C120-081D-FD85-B8E8B910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Essential String Operations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5F7766-8C33-8F95-F238-D891EC85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3533A9-FA2A-D836-5412-2DF025C04CCA}"/>
              </a:ext>
            </a:extLst>
          </p:cNvPr>
          <p:cNvSpPr txBox="1">
            <a:spLocks/>
          </p:cNvSpPr>
          <p:nvPr/>
        </p:nvSpPr>
        <p:spPr>
          <a:xfrm>
            <a:off x="92333" y="1391558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de-DE" b="1" dirty="0">
                <a:solidFill>
                  <a:schemeClr val="accent1"/>
                </a:solidFill>
              </a:rPr>
              <a:t>A string </a:t>
            </a:r>
            <a:r>
              <a:rPr lang="de-DE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is a </a:t>
            </a:r>
            <a:r>
              <a:rPr lang="de-DE" dirty="0">
                <a:solidFill>
                  <a:srgbClr val="2D37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sequence of characters</a:t>
            </a:r>
            <a:r>
              <a:rPr lang="de-DE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.  </a:t>
            </a:r>
          </a:p>
          <a:p>
            <a:pPr marL="0" indent="0">
              <a:buNone/>
            </a:pPr>
            <a:r>
              <a:rPr lang="de-DE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Assume we have a language string variable as </a:t>
            </a:r>
            <a:r>
              <a:rPr lang="en-US" dirty="0">
                <a:solidFill>
                  <a:srgbClr val="DF4807"/>
                </a:solidFill>
              </a:rPr>
              <a:t>language=‘Python’,  it is equivalent to [‘P ‘, ‘y ‘, ‘t ‘, ‘h ‘, ‘o ‘, ‘n ‘].</a:t>
            </a:r>
            <a:endParaRPr lang="de-DE" dirty="0">
              <a:solidFill>
                <a:srgbClr val="DF4807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1BFEF46-580E-411E-66A8-9081EAF4B542}"/>
              </a:ext>
            </a:extLst>
          </p:cNvPr>
          <p:cNvSpPr/>
          <p:nvPr/>
        </p:nvSpPr>
        <p:spPr>
          <a:xfrm>
            <a:off x="5951503" y="314018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 → 'Tom'  &lt;class 'str'&gt;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→ 69     &lt;class 'int'&gt;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→ 1.83   &lt;class 'float'&gt;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 → False  &lt;class 'bool'&gt;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A73592-4AC4-56A6-9823-D8247EE98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031712"/>
              </p:ext>
            </p:extLst>
          </p:nvPr>
        </p:nvGraphicFramePr>
        <p:xfrm>
          <a:off x="3552908" y="2332772"/>
          <a:ext cx="4797188" cy="439727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77469">
                  <a:extLst>
                    <a:ext uri="{9D8B030D-6E8A-4147-A177-3AD203B41FA5}">
                      <a16:colId xmlns:a16="http://schemas.microsoft.com/office/drawing/2014/main" val="2659404107"/>
                    </a:ext>
                  </a:extLst>
                </a:gridCol>
                <a:gridCol w="1206573">
                  <a:extLst>
                    <a:ext uri="{9D8B030D-6E8A-4147-A177-3AD203B41FA5}">
                      <a16:colId xmlns:a16="http://schemas.microsoft.com/office/drawing/2014/main" val="4288391681"/>
                    </a:ext>
                  </a:extLst>
                </a:gridCol>
                <a:gridCol w="1206573">
                  <a:extLst>
                    <a:ext uri="{9D8B030D-6E8A-4147-A177-3AD203B41FA5}">
                      <a16:colId xmlns:a16="http://schemas.microsoft.com/office/drawing/2014/main" val="3540257457"/>
                    </a:ext>
                  </a:extLst>
                </a:gridCol>
                <a:gridCol w="1206573">
                  <a:extLst>
                    <a:ext uri="{9D8B030D-6E8A-4147-A177-3AD203B41FA5}">
                      <a16:colId xmlns:a16="http://schemas.microsoft.com/office/drawing/2014/main" val="681896663"/>
                    </a:ext>
                  </a:extLst>
                </a:gridCol>
              </a:tblGrid>
              <a:tr h="47643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DF4807"/>
                          </a:solidFill>
                        </a:rPr>
                        <a:t>Operation</a:t>
                      </a:r>
                      <a:endParaRPr lang="en-US" sz="11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DF4807"/>
                          </a:solidFill>
                        </a:rPr>
                        <a:t>Syntax / Example</a:t>
                      </a:r>
                      <a:endParaRPr lang="en-US" sz="11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DF4807"/>
                          </a:solidFill>
                        </a:rPr>
                        <a:t>Description</a:t>
                      </a:r>
                      <a:endParaRPr lang="en-US" sz="11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DF4807"/>
                          </a:solidFill>
                        </a:rPr>
                        <a:t>Output Example</a:t>
                      </a:r>
                      <a:endParaRPr lang="en-US" sz="11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2376352792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Length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 err="1"/>
                        <a:t>len</a:t>
                      </a:r>
                      <a:r>
                        <a:rPr lang="en-US" sz="900" b="1" dirty="0"/>
                        <a:t>(language)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returns the number of characters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400" dirty="0"/>
                        <a:t>6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3592633831"/>
                  </a:ext>
                </a:extLst>
              </a:tr>
              <a:tr h="47643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Indexing (first)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/>
                        <a:t>language[0]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2D3748"/>
                          </a:solidFill>
                        </a:rPr>
                        <a:t>accesses the first character</a:t>
                      </a:r>
                      <a:endParaRPr lang="en-US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'P'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833451879"/>
                  </a:ext>
                </a:extLst>
              </a:tr>
              <a:tr h="47643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Indexing (last)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/>
                        <a:t>language[-1]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2D3748"/>
                          </a:solidFill>
                        </a:rPr>
                        <a:t>accesses the last character</a:t>
                      </a:r>
                      <a:endParaRPr lang="en-US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'n'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641557384"/>
                  </a:ext>
                </a:extLst>
              </a:tr>
              <a:tr h="90133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Slicing (range)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/>
                        <a:t>language[0:3]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extracts characters from index 0 to 2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'</a:t>
                      </a:r>
                      <a:r>
                        <a:rPr lang="en-US" sz="1400" dirty="0" err="1"/>
                        <a:t>Pyt</a:t>
                      </a:r>
                      <a:r>
                        <a:rPr lang="en-US" sz="1400" dirty="0"/>
                        <a:t>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784174213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Slicing (end)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/>
                        <a:t>language[-3:]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>
                          <a:solidFill>
                            <a:srgbClr val="2D3748"/>
                          </a:solidFill>
                        </a:rPr>
                        <a:t>extracts the last three characters</a:t>
                      </a:r>
                      <a:endParaRPr lang="en-GB" sz="1100" kern="120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'hon'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245311853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Slicing (step)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/>
                        <a:t>language[::2]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2D3748"/>
                          </a:solidFill>
                        </a:rPr>
                        <a:t>selects every second character</a:t>
                      </a:r>
                      <a:endParaRPr lang="en-US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'</a:t>
                      </a:r>
                      <a:r>
                        <a:rPr lang="en-US" sz="1400" dirty="0" err="1"/>
                        <a:t>Pto</a:t>
                      </a:r>
                      <a:r>
                        <a:rPr lang="en-US" sz="1400" dirty="0"/>
                        <a:t>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192407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449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AE8F-BE3D-DF38-85CA-F4961E50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50395ABF-91D7-F5C5-3AF1-E54B3AD4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Essential String Operations (Cont.)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7E1523-B39D-F84E-B49F-A26794D6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FA27F1-50D4-38FF-8249-F6994448FF6F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44A484-C21F-D1EF-4BE3-2E29E2F94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647049"/>
              </p:ext>
            </p:extLst>
          </p:nvPr>
        </p:nvGraphicFramePr>
        <p:xfrm>
          <a:off x="2718707" y="1643230"/>
          <a:ext cx="7179673" cy="366617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30383">
                  <a:extLst>
                    <a:ext uri="{9D8B030D-6E8A-4147-A177-3AD203B41FA5}">
                      <a16:colId xmlns:a16="http://schemas.microsoft.com/office/drawing/2014/main" val="2659404107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428839168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540257457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681896663"/>
                    </a:ext>
                  </a:extLst>
                </a:gridCol>
              </a:tblGrid>
              <a:tr h="43555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rgbClr val="DF4807"/>
                          </a:solidFill>
                        </a:rPr>
                        <a:t>Operation</a:t>
                      </a:r>
                      <a:endParaRPr lang="en-US" sz="12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rgbClr val="DF4807"/>
                          </a:solidFill>
                        </a:rPr>
                        <a:t>Syntax / Example</a:t>
                      </a:r>
                      <a:endParaRPr lang="en-US" sz="12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rgbClr val="DF4807"/>
                          </a:solidFill>
                        </a:rPr>
                        <a:t>Description</a:t>
                      </a:r>
                      <a:endParaRPr lang="en-US" sz="12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rgbClr val="DF4807"/>
                          </a:solidFill>
                        </a:rPr>
                        <a:t>Output Example</a:t>
                      </a:r>
                      <a:endParaRPr lang="en-US" sz="1200" b="1" kern="1200" dirty="0">
                        <a:solidFill>
                          <a:srgbClr val="DF480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2376352792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Concatenation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first_name</a:t>
                      </a:r>
                      <a:r>
                        <a:rPr lang="en-US" sz="1200" b="1" dirty="0"/>
                        <a:t> + ' ' + </a:t>
                      </a:r>
                      <a:r>
                        <a:rPr lang="en-US" sz="1200" b="1" dirty="0" err="1"/>
                        <a:t>last_name</a:t>
                      </a:r>
                      <a:endParaRPr lang="en-US" sz="1200" b="1" dirty="0"/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combines strings with explicit separator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'John Doe'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883647512"/>
                  </a:ext>
                </a:extLst>
              </a:tr>
              <a:tr h="62977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Remove whitespace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sentence.strip</a:t>
                      </a:r>
                      <a:r>
                        <a:rPr lang="en-US" sz="1200" b="1" dirty="0"/>
                        <a:t>()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removes leading and trailing spaces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'hello, world!'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4194289755"/>
                  </a:ext>
                </a:extLst>
              </a:tr>
              <a:tr h="62977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Uppercase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sentence.strip</a:t>
                      </a:r>
                      <a:r>
                        <a:rPr lang="en-US" sz="1200" b="1" dirty="0"/>
                        <a:t>().upper()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converts all characters to uppercase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'HELLO, WORLD!'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1172676641"/>
                  </a:ext>
                </a:extLst>
              </a:tr>
              <a:tr h="43555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Title case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sentence.strip</a:t>
                      </a:r>
                      <a:r>
                        <a:rPr lang="en-US" sz="1200" b="1" dirty="0"/>
                        <a:t>().title()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 err="1">
                          <a:solidFill>
                            <a:srgbClr val="2D3748"/>
                          </a:solidFill>
                        </a:rPr>
                        <a:t>capitalises</a:t>
                      </a:r>
                      <a:r>
                        <a:rPr lang="en-US" sz="1100" kern="1200" dirty="0">
                          <a:solidFill>
                            <a:srgbClr val="2D3748"/>
                          </a:solidFill>
                        </a:rPr>
                        <a:t> each word</a:t>
                      </a:r>
                      <a:endParaRPr lang="en-US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'Hello, World!'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1576580437"/>
                  </a:ext>
                </a:extLst>
              </a:tr>
              <a:tr h="43555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Replace substring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replace('</a:t>
                      </a:r>
                      <a:r>
                        <a:rPr lang="en-US" sz="1200" b="1" dirty="0" err="1"/>
                        <a:t>world','Python</a:t>
                      </a:r>
                      <a:r>
                        <a:rPr lang="en-US" sz="1200" b="1" dirty="0"/>
                        <a:t>')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replaces part of a string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'hello, Python!'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1490306963"/>
                  </a:ext>
                </a:extLst>
              </a:tr>
              <a:tr h="43555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2D3748"/>
                          </a:solidFill>
                        </a:rPr>
                        <a:t>Split string</a:t>
                      </a:r>
                      <a:endParaRPr lang="en-US" sz="1100" b="1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'hello </a:t>
                      </a:r>
                      <a:r>
                        <a:rPr lang="en-US" sz="1200" b="1" dirty="0" err="1"/>
                        <a:t>world'.split</a:t>
                      </a:r>
                      <a:r>
                        <a:rPr lang="en-US" sz="1200" b="1" dirty="0"/>
                        <a:t>()</a:t>
                      </a: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100" kern="1200" dirty="0">
                          <a:solidFill>
                            <a:srgbClr val="2D3748"/>
                          </a:solidFill>
                        </a:rPr>
                        <a:t>splits into a list of words</a:t>
                      </a:r>
                      <a:endParaRPr lang="en-GB" sz="1100" kern="1200" dirty="0">
                        <a:solidFill>
                          <a:srgbClr val="2D374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0664" marR="40664" marT="20332" marB="203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['hello', 'world']</a:t>
                      </a:r>
                    </a:p>
                  </a:txBody>
                  <a:tcPr marL="40664" marR="40664" marT="20332" marB="20332" anchor="ctr"/>
                </a:tc>
                <a:extLst>
                  <a:ext uri="{0D108BD9-81ED-4DB2-BD59-A6C34878D82A}">
                    <a16:rowId xmlns:a16="http://schemas.microsoft.com/office/drawing/2014/main" val="361068490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34521CD-B8FF-4051-8B1D-7DA69CABE07C}"/>
              </a:ext>
            </a:extLst>
          </p:cNvPr>
          <p:cNvGrpSpPr/>
          <p:nvPr/>
        </p:nvGrpSpPr>
        <p:grpSpPr>
          <a:xfrm>
            <a:off x="3068818" y="5657621"/>
            <a:ext cx="6479449" cy="836948"/>
            <a:chOff x="2620794" y="5869372"/>
            <a:chExt cx="6479449" cy="836948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BBA668F6-A5BF-50CD-A3A0-1C0AC6188EBA}"/>
                </a:ext>
              </a:extLst>
            </p:cNvPr>
            <p:cNvSpPr/>
            <p:nvPr/>
          </p:nvSpPr>
          <p:spPr>
            <a:xfrm>
              <a:off x="3091756" y="5871227"/>
              <a:ext cx="6008487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Week1.ipynb</a:t>
              </a:r>
              <a:r>
                <a:rPr lang="en-GB" sz="1600" dirty="0"/>
                <a:t>, navigate to the section “</a:t>
              </a:r>
              <a:r>
                <a:rPr lang="en-US" b="1" dirty="0"/>
                <a:t>Modern String Formatting: f-strings</a:t>
              </a:r>
              <a:r>
                <a:rPr lang="en-GB" sz="1600" dirty="0"/>
                <a:t>” &amp; </a:t>
              </a:r>
              <a:r>
                <a:rPr lang="en-GB" sz="1400" dirty="0"/>
                <a:t> “</a:t>
              </a:r>
              <a:r>
                <a:rPr lang="en-US" b="1" dirty="0"/>
                <a:t>Essential String Operations</a:t>
              </a:r>
              <a:r>
                <a:rPr lang="en-GB" sz="1400" dirty="0"/>
                <a:t>” </a:t>
              </a:r>
              <a:r>
                <a:rPr lang="en-GB" sz="1600" dirty="0"/>
                <a:t> and experiment with the code in the cells below.</a:t>
              </a:r>
            </a:p>
          </p:txBody>
        </p:sp>
        <p:pic>
          <p:nvPicPr>
            <p:cNvPr id="5" name="Grafik 208">
              <a:extLst>
                <a:ext uri="{FF2B5EF4-FFF2-40B4-BE49-F238E27FC236}">
                  <a16:creationId xmlns:a16="http://schemas.microsoft.com/office/drawing/2014/main" id="{3511E77D-D791-1635-A009-23CFD120BB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20794" y="5869372"/>
              <a:ext cx="436474" cy="436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8892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4D502-DEBC-44C7-D563-BDC994C84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1690768-6BA1-CE39-5F6C-418535A9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Arithematic Operators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46036F-A95B-D3FE-5E79-B5BA6B3F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980F98-1881-2EC7-D2CC-03FFA97CC959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440E9B9-0CDB-2EE5-4AD3-1F37D229DDE0}"/>
              </a:ext>
            </a:extLst>
          </p:cNvPr>
          <p:cNvSpPr/>
          <p:nvPr/>
        </p:nvSpPr>
        <p:spPr>
          <a:xfrm>
            <a:off x="5951503" y="314018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 → 'Tom'  &lt;class 'str'&gt;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→ 69     &lt;class 'int'&gt;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→ 1.83   &lt;class 'float'&gt;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 → False  &lt;class 'bool'&gt;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3F4E3582-DE00-A492-8109-274159CF2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21353"/>
              </p:ext>
            </p:extLst>
          </p:nvPr>
        </p:nvGraphicFramePr>
        <p:xfrm>
          <a:off x="1106580" y="1356360"/>
          <a:ext cx="8778240" cy="208788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Operator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Name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Example (a=7,b=2)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Result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+ 2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7 - 2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*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 Division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3.5  ← always float!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Floor Division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//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  ← drops decimal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Modulus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7 %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  ← remainder only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 ** 2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C09CB334-A1BA-4330-309F-117DB196B349}"/>
              </a:ext>
            </a:extLst>
          </p:cNvPr>
          <p:cNvGrpSpPr/>
          <p:nvPr/>
        </p:nvGrpSpPr>
        <p:grpSpPr>
          <a:xfrm>
            <a:off x="1105183" y="3688826"/>
            <a:ext cx="5486400" cy="914400"/>
            <a:chOff x="182880" y="3886200"/>
            <a:chExt cx="5486400" cy="9144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3DE2F721-1DE2-49F6-89D8-37F5430981BD}"/>
                </a:ext>
              </a:extLst>
            </p:cNvPr>
            <p:cNvSpPr/>
            <p:nvPr/>
          </p:nvSpPr>
          <p:spPr>
            <a:xfrm>
              <a:off x="182880" y="3886200"/>
              <a:ext cx="5486400" cy="914400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FA788095-041B-8C30-39C6-5E9D1BA61271}"/>
                </a:ext>
              </a:extLst>
            </p:cNvPr>
            <p:cNvSpPr/>
            <p:nvPr/>
          </p:nvSpPr>
          <p:spPr>
            <a:xfrm>
              <a:off x="274320" y="3959352"/>
              <a:ext cx="5303520" cy="7680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a, b = 7, 2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print(f"{a} / {b}  = {a / b}")    # 3.5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print(f"{a} // {b} = {a // b}")   # 3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print(f"{a} % {b}  = {a % b}")    # 1</a:t>
              </a:r>
              <a:endParaRPr lang="en-US" sz="10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8404FD-E542-16DC-06EE-33E356317C89}"/>
              </a:ext>
            </a:extLst>
          </p:cNvPr>
          <p:cNvGrpSpPr/>
          <p:nvPr/>
        </p:nvGrpSpPr>
        <p:grpSpPr>
          <a:xfrm>
            <a:off x="6775860" y="3688826"/>
            <a:ext cx="3108960" cy="914400"/>
            <a:chOff x="5760720" y="3886200"/>
            <a:chExt cx="3108960" cy="914400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62AE1407-5771-2D09-0EE7-649C05FB7B39}"/>
                </a:ext>
              </a:extLst>
            </p:cNvPr>
            <p:cNvSpPr/>
            <p:nvPr/>
          </p:nvSpPr>
          <p:spPr>
            <a:xfrm>
              <a:off x="5760720" y="3886200"/>
              <a:ext cx="3108960" cy="914400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0307B4B2-5DA1-C78D-4100-24C015018099}"/>
                </a:ext>
              </a:extLst>
            </p:cNvPr>
            <p:cNvSpPr/>
            <p:nvPr/>
          </p:nvSpPr>
          <p:spPr>
            <a:xfrm>
              <a:off x="5833872" y="3922776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8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D6A7F8F8-4BE4-31BE-EFFF-2080135116BB}"/>
                </a:ext>
              </a:extLst>
            </p:cNvPr>
            <p:cNvSpPr/>
            <p:nvPr/>
          </p:nvSpPr>
          <p:spPr>
            <a:xfrm>
              <a:off x="5852160" y="411480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 / 2  = 3.5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 // 2 = 3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7 % 2  = 1</a:t>
              </a:r>
              <a:endParaRPr lang="en-US" sz="10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1FF07DC-B41C-2D5A-D017-6158E4E1D3E4}"/>
              </a:ext>
            </a:extLst>
          </p:cNvPr>
          <p:cNvGrpSpPr/>
          <p:nvPr/>
        </p:nvGrpSpPr>
        <p:grpSpPr>
          <a:xfrm>
            <a:off x="1665978" y="5093532"/>
            <a:ext cx="7851684" cy="837399"/>
            <a:chOff x="1665978" y="5093532"/>
            <a:chExt cx="7851684" cy="837399"/>
          </a:xfrm>
        </p:grpSpPr>
        <p:sp>
          <p:nvSpPr>
            <p:cNvPr id="16" name="Abgerundetes Rechteck 32">
              <a:extLst>
                <a:ext uri="{FF2B5EF4-FFF2-40B4-BE49-F238E27FC236}">
                  <a16:creationId xmlns:a16="http://schemas.microsoft.com/office/drawing/2014/main" id="{4756687B-FE00-5501-045E-3267291C479E}"/>
                </a:ext>
              </a:extLst>
            </p:cNvPr>
            <p:cNvSpPr/>
            <p:nvPr/>
          </p:nvSpPr>
          <p:spPr>
            <a:xfrm>
              <a:off x="2177557" y="5095838"/>
              <a:ext cx="7340105" cy="83509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rgbClr val="AAA3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GB" dirty="0"/>
                <a:t>How does the modulo operator work?</a:t>
              </a:r>
            </a:p>
          </p:txBody>
        </p:sp>
        <p:pic>
          <p:nvPicPr>
            <p:cNvPr id="17" name="Grafik 125">
              <a:extLst>
                <a:ext uri="{FF2B5EF4-FFF2-40B4-BE49-F238E27FC236}">
                  <a16:creationId xmlns:a16="http://schemas.microsoft.com/office/drawing/2014/main" id="{CC63CC1A-43FE-83E5-17D2-319436325E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65978" y="5093532"/>
              <a:ext cx="436474" cy="436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73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06CC-9F45-5BD4-3B7C-8DD5FFC4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F2E6AED-2358-C6A3-2B48-D1BF5C2E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Understanding Modulo (%)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07B2A7-C41A-3AF1-9D30-FB0510D7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927A41-EF41-AA77-2820-A95CD621F010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CBBD3E-B973-39D0-FAA2-00616C19CA03}"/>
              </a:ext>
            </a:extLst>
          </p:cNvPr>
          <p:cNvGrpSpPr/>
          <p:nvPr/>
        </p:nvGrpSpPr>
        <p:grpSpPr>
          <a:xfrm>
            <a:off x="3437716" y="1699148"/>
            <a:ext cx="5029200" cy="1956496"/>
            <a:chOff x="3311986" y="1584965"/>
            <a:chExt cx="5029200" cy="1956496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75E3DBB7-AFAF-E451-173F-95575BBBC213}"/>
                </a:ext>
              </a:extLst>
            </p:cNvPr>
            <p:cNvSpPr/>
            <p:nvPr/>
          </p:nvSpPr>
          <p:spPr>
            <a:xfrm>
              <a:off x="3311986" y="1584965"/>
              <a:ext cx="5029200" cy="1920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E99B243-5FF7-A368-E422-BCAD14294B1A}"/>
                </a:ext>
              </a:extLst>
            </p:cNvPr>
            <p:cNvSpPr/>
            <p:nvPr/>
          </p:nvSpPr>
          <p:spPr>
            <a:xfrm>
              <a:off x="3494866" y="1718780"/>
              <a:ext cx="46634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7 % 3 : Step by Step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AA473984-FEB7-C978-AE27-6579A6D0A3C4}"/>
                </a:ext>
              </a:extLst>
            </p:cNvPr>
            <p:cNvSpPr/>
            <p:nvPr/>
          </p:nvSpPr>
          <p:spPr>
            <a:xfrm>
              <a:off x="3494866" y="2124141"/>
              <a:ext cx="466344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DF4807"/>
                  </a:solidFill>
                  <a:ea typeface="Calibri" pitchFamily="34" charset="-122"/>
                  <a:cs typeface="Calibri" pitchFamily="34" charset="-120"/>
                </a:rPr>
                <a:t>Step 1</a:t>
              </a: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:  7 ÷ 3 = 2  (with a leftover)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Step 2:  3 × 2 = 6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DF4807"/>
                  </a:solidFill>
                  <a:ea typeface="Calibri" pitchFamily="34" charset="-122"/>
                  <a:cs typeface="Calibri" pitchFamily="34" charset="-120"/>
                </a:rPr>
                <a:t>Step 3</a:t>
              </a: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:  7 − 6 = 1  ← this is 7 % 3 </a:t>
              </a:r>
            </a:p>
            <a:p>
              <a:pPr marL="0" indent="0">
                <a:buNone/>
              </a:pPr>
              <a:endParaRPr lang="en-US" sz="12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In other words, </a:t>
              </a:r>
              <a:r>
                <a:rPr lang="en-US" sz="1200" dirty="0">
                  <a:solidFill>
                    <a:srgbClr val="DF4807"/>
                  </a:solidFill>
                  <a:ea typeface="Calibri" pitchFamily="34" charset="-122"/>
                  <a:cs typeface="Calibri" pitchFamily="34" charset="-120"/>
                </a:rPr>
                <a:t>3 fits into 7 twice </a:t>
              </a: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because 3*2=6</a:t>
              </a:r>
            </a:p>
            <a:p>
              <a:pPr marL="0" indent="0">
                <a:buNone/>
              </a:pP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The </a:t>
              </a:r>
              <a:r>
                <a:rPr lang="en-US" sz="1200" dirty="0">
                  <a:solidFill>
                    <a:srgbClr val="DF4807"/>
                  </a:solidFill>
                  <a:ea typeface="Calibri" pitchFamily="34" charset="-122"/>
                  <a:cs typeface="Calibri" pitchFamily="34" charset="-120"/>
                </a:rPr>
                <a:t>remainder</a:t>
              </a: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 is 7-6=1</a:t>
              </a:r>
            </a:p>
            <a:p>
              <a:pPr marL="0" indent="0">
                <a:buNone/>
              </a:pPr>
              <a:r>
                <a:rPr lang="en-US" sz="12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Thus, 7%3=1</a:t>
              </a:r>
              <a:endParaRPr lang="en-US" sz="1200" dirty="0"/>
            </a:p>
            <a:p>
              <a:pPr marL="0" indent="0">
                <a:buNone/>
              </a:pPr>
              <a:endParaRPr lang="en-US" sz="1200" dirty="0"/>
            </a:p>
          </p:txBody>
        </p:sp>
      </p:grpSp>
      <p:sp>
        <p:nvSpPr>
          <p:cNvPr id="24" name="Text 3">
            <a:extLst>
              <a:ext uri="{FF2B5EF4-FFF2-40B4-BE49-F238E27FC236}">
                <a16:creationId xmlns:a16="http://schemas.microsoft.com/office/drawing/2014/main" id="{76DFE322-C6D7-882F-CF5A-F80B6DB2503B}"/>
              </a:ext>
            </a:extLst>
          </p:cNvPr>
          <p:cNvSpPr/>
          <p:nvPr/>
        </p:nvSpPr>
        <p:spPr>
          <a:xfrm>
            <a:off x="360000" y="12730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Modulo gives you the REMAINDER </a:t>
            </a:r>
            <a:r>
              <a:rPr lang="en-US" sz="1400" b="1" dirty="0">
                <a:solidFill>
                  <a:srgbClr val="DF4807"/>
                </a:solidFill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4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integer division</a:t>
            </a:r>
            <a:r>
              <a:rPr lang="en-US" sz="13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D5ED8-8A13-EC45-F32A-AF5D38AC3936}"/>
              </a:ext>
            </a:extLst>
          </p:cNvPr>
          <p:cNvGrpSpPr/>
          <p:nvPr/>
        </p:nvGrpSpPr>
        <p:grpSpPr>
          <a:xfrm>
            <a:off x="2597864" y="3748727"/>
            <a:ext cx="6451804" cy="1053330"/>
            <a:chOff x="2597864" y="3748727"/>
            <a:chExt cx="6451804" cy="1053330"/>
          </a:xfrm>
        </p:grpSpPr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12F4FBC1-1B17-421F-12E4-F2C6D8319FF3}"/>
                </a:ext>
              </a:extLst>
            </p:cNvPr>
            <p:cNvSpPr/>
            <p:nvPr/>
          </p:nvSpPr>
          <p:spPr>
            <a:xfrm>
              <a:off x="3142331" y="3966964"/>
              <a:ext cx="5907337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Week1.ipynb</a:t>
              </a:r>
              <a:r>
                <a:rPr lang="en-GB" sz="1600" dirty="0"/>
                <a:t>, navigate to the section “</a:t>
              </a:r>
              <a:r>
                <a:rPr lang="en-GB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Arithmetic Operations</a:t>
              </a:r>
              <a:r>
                <a:rPr lang="en-GB" sz="1600" dirty="0"/>
                <a:t>” and experiment with the code in the cells below.</a:t>
              </a:r>
            </a:p>
          </p:txBody>
        </p:sp>
        <p:pic>
          <p:nvPicPr>
            <p:cNvPr id="26" name="Grafik 208">
              <a:extLst>
                <a:ext uri="{FF2B5EF4-FFF2-40B4-BE49-F238E27FC236}">
                  <a16:creationId xmlns:a16="http://schemas.microsoft.com/office/drawing/2014/main" id="{21635E1E-C0C3-52D4-DCDB-0EDE947300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97864" y="3748727"/>
              <a:ext cx="436474" cy="43647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D3F3CF0-88CC-FB88-8DFC-27747B4A48A8}"/>
              </a:ext>
            </a:extLst>
          </p:cNvPr>
          <p:cNvGrpSpPr/>
          <p:nvPr/>
        </p:nvGrpSpPr>
        <p:grpSpPr>
          <a:xfrm>
            <a:off x="2597864" y="5307143"/>
            <a:ext cx="6465489" cy="835093"/>
            <a:chOff x="2597864" y="5307143"/>
            <a:chExt cx="6465489" cy="835093"/>
          </a:xfrm>
        </p:grpSpPr>
        <p:pic>
          <p:nvPicPr>
            <p:cNvPr id="29" name="Grafik 216">
              <a:extLst>
                <a:ext uri="{FF2B5EF4-FFF2-40B4-BE49-F238E27FC236}">
                  <a16:creationId xmlns:a16="http://schemas.microsoft.com/office/drawing/2014/main" id="{DFF2CD95-7031-7058-45B9-FB4198E8D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97864" y="5307143"/>
              <a:ext cx="436474" cy="436474"/>
            </a:xfrm>
            <a:prstGeom prst="rect">
              <a:avLst/>
            </a:prstGeom>
          </p:spPr>
        </p:pic>
        <p:sp>
          <p:nvSpPr>
            <p:cNvPr id="30" name="Abgerundetes Rechteck 32">
              <a:extLst>
                <a:ext uri="{FF2B5EF4-FFF2-40B4-BE49-F238E27FC236}">
                  <a16:creationId xmlns:a16="http://schemas.microsoft.com/office/drawing/2014/main" id="{EDFA4E96-CB13-B223-CB73-ADA833000178}"/>
                </a:ext>
              </a:extLst>
            </p:cNvPr>
            <p:cNvSpPr/>
            <p:nvPr/>
          </p:nvSpPr>
          <p:spPr>
            <a:xfrm>
              <a:off x="3142331" y="5307143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15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Problems 3&amp;4</a:t>
              </a:r>
              <a:r>
                <a:rPr lang="en-GB" dirty="0"/>
                <a:t>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442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3CBD-9994-D93A-975C-36F8DC48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A268743-F236-D8C1-C7A1-702DE845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Boolean Comparisons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716D88-3612-DA42-A213-D9ABCB6B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6DFF47-1407-B714-6E1C-A7155B69F345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D8B27C4-007F-3C89-DE3E-953575924B0C}"/>
              </a:ext>
            </a:extLst>
          </p:cNvPr>
          <p:cNvSpPr/>
          <p:nvPr/>
        </p:nvSpPr>
        <p:spPr>
          <a:xfrm>
            <a:off x="5951503" y="314018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 → 'Tom'  &lt;class 'str'&gt;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→ 69     &lt;class 'int'&gt;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→ 1.83   &lt;class 'float'&gt;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 → False  &lt;class 'bool'&gt;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070B95E-6413-87EE-459F-A39FED61C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814541"/>
              </p:ext>
            </p:extLst>
          </p:nvPr>
        </p:nvGraphicFramePr>
        <p:xfrm>
          <a:off x="1106580" y="1486247"/>
          <a:ext cx="8778240" cy="19202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Operator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Meaning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Example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Result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 == 3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 != 2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 &gt; 3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 &lt; 1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Greater or equal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 &gt;= 5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Less or equal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 &lt;= 3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9D4F03F9-6489-CCC8-C72E-0E85E8E2BB8A}"/>
              </a:ext>
            </a:extLst>
          </p:cNvPr>
          <p:cNvGrpSpPr/>
          <p:nvPr/>
        </p:nvGrpSpPr>
        <p:grpSpPr>
          <a:xfrm>
            <a:off x="1105183" y="3688826"/>
            <a:ext cx="5486400" cy="914400"/>
            <a:chOff x="182880" y="3886200"/>
            <a:chExt cx="5486400" cy="9144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7E299FA6-A339-1259-4B09-92B58E10E6B9}"/>
                </a:ext>
              </a:extLst>
            </p:cNvPr>
            <p:cNvSpPr/>
            <p:nvPr/>
          </p:nvSpPr>
          <p:spPr>
            <a:xfrm>
              <a:off x="182880" y="3886200"/>
              <a:ext cx="5486400" cy="914400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C5A7C412-2484-C71C-EA12-ED52726E9E3D}"/>
                </a:ext>
              </a:extLst>
            </p:cNvPr>
            <p:cNvSpPr/>
            <p:nvPr/>
          </p:nvSpPr>
          <p:spPr>
            <a:xfrm>
              <a:off x="274320" y="3959352"/>
              <a:ext cx="5303520" cy="7680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x, y = 10, 15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</a:t>
              </a:r>
              <a:r>
                <a:rPr lang="en-US" sz="1050" dirty="0" err="1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f"x</a:t>
              </a: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&gt; y  → {x &gt; y}")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</a:t>
              </a:r>
              <a:r>
                <a:rPr lang="en-US" sz="1050" dirty="0" err="1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f"x</a:t>
              </a: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== 10 → {x == 10}")</a:t>
              </a:r>
              <a:endParaRPr lang="en-US" sz="10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A6F495-F65A-D6A3-3BEA-7AAF4F8860D0}"/>
              </a:ext>
            </a:extLst>
          </p:cNvPr>
          <p:cNvGrpSpPr/>
          <p:nvPr/>
        </p:nvGrpSpPr>
        <p:grpSpPr>
          <a:xfrm>
            <a:off x="6775860" y="3688826"/>
            <a:ext cx="3108960" cy="914400"/>
            <a:chOff x="5760720" y="3886200"/>
            <a:chExt cx="3108960" cy="914400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7E8BB56-2DBF-358F-AE7D-A783A401E574}"/>
                </a:ext>
              </a:extLst>
            </p:cNvPr>
            <p:cNvSpPr/>
            <p:nvPr/>
          </p:nvSpPr>
          <p:spPr>
            <a:xfrm>
              <a:off x="5760720" y="3886200"/>
              <a:ext cx="3108960" cy="914400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69E90475-FDB4-C409-8C3C-AD8A5BBD6C76}"/>
                </a:ext>
              </a:extLst>
            </p:cNvPr>
            <p:cNvSpPr/>
            <p:nvPr/>
          </p:nvSpPr>
          <p:spPr>
            <a:xfrm>
              <a:off x="5833872" y="3922776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8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05C72C6D-C215-23F8-0B98-1A10D604807F}"/>
                </a:ext>
              </a:extLst>
            </p:cNvPr>
            <p:cNvSpPr/>
            <p:nvPr/>
          </p:nvSpPr>
          <p:spPr>
            <a:xfrm>
              <a:off x="5852160" y="411480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 &gt; y  → False</a:t>
              </a:r>
              <a:endParaRPr lang="en-US" sz="1000" dirty="0"/>
            </a:p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 == 10 → True</a:t>
              </a:r>
              <a:endParaRPr lang="en-US" sz="10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7C46584-9DB4-CCAE-5281-A7B3E4BBA026}"/>
              </a:ext>
            </a:extLst>
          </p:cNvPr>
          <p:cNvGrpSpPr/>
          <p:nvPr/>
        </p:nvGrpSpPr>
        <p:grpSpPr>
          <a:xfrm>
            <a:off x="1649045" y="5095838"/>
            <a:ext cx="7868617" cy="835093"/>
            <a:chOff x="1649045" y="5095838"/>
            <a:chExt cx="7868617" cy="835093"/>
          </a:xfrm>
        </p:grpSpPr>
        <p:sp>
          <p:nvSpPr>
            <p:cNvPr id="16" name="Abgerundetes Rechteck 32">
              <a:extLst>
                <a:ext uri="{FF2B5EF4-FFF2-40B4-BE49-F238E27FC236}">
                  <a16:creationId xmlns:a16="http://schemas.microsoft.com/office/drawing/2014/main" id="{31191708-65D0-64ED-9355-245A1418BDDF}"/>
                </a:ext>
              </a:extLst>
            </p:cNvPr>
            <p:cNvSpPr/>
            <p:nvPr/>
          </p:nvSpPr>
          <p:spPr>
            <a:xfrm>
              <a:off x="2177557" y="5095838"/>
              <a:ext cx="7340105" cy="83509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rgbClr val="AAA3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GB" dirty="0"/>
                <a:t>What is the difference between a=15 and a==15?</a:t>
              </a:r>
            </a:p>
          </p:txBody>
        </p:sp>
        <p:pic>
          <p:nvPicPr>
            <p:cNvPr id="17" name="Grafik 125">
              <a:extLst>
                <a:ext uri="{FF2B5EF4-FFF2-40B4-BE49-F238E27FC236}">
                  <a16:creationId xmlns:a16="http://schemas.microsoft.com/office/drawing/2014/main" id="{0A6AD5C4-CF5F-1285-F2A6-10CFE14088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49045" y="5129242"/>
              <a:ext cx="436474" cy="436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3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13D4-CD92-CFD1-A64D-3CC4C0B3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3C270BD-2C4D-3C49-EFEE-64F84FA4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Logical Operators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3D97E1-A23B-92B0-DBA7-EC7BC56F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E17BAD-7056-614D-DE4D-9311AB9F88C1}"/>
              </a:ext>
            </a:extLst>
          </p:cNvPr>
          <p:cNvSpPr txBox="1">
            <a:spLocks/>
          </p:cNvSpPr>
          <p:nvPr/>
        </p:nvSpPr>
        <p:spPr>
          <a:xfrm>
            <a:off x="-168686" y="144110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EE19EF1-D186-37A3-8FC7-45B4B58D84A8}"/>
              </a:ext>
            </a:extLst>
          </p:cNvPr>
          <p:cNvSpPr/>
          <p:nvPr/>
        </p:nvSpPr>
        <p:spPr>
          <a:xfrm>
            <a:off x="5951503" y="314018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 → 'Tom'  &lt;class 'str'&gt;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→ 69     &lt;class 'int'&gt;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→ 1.83   &lt;class 'float'&gt;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 → False  &lt;class 'bool'&gt;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AA02A68-E6C9-DFD8-59F4-A6C31B1B3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07299"/>
              </p:ext>
            </p:extLst>
          </p:nvPr>
        </p:nvGraphicFramePr>
        <p:xfrm>
          <a:off x="1106580" y="1282142"/>
          <a:ext cx="8778240" cy="1051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Operator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Rule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Example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Result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Both must be True</a:t>
                      </a:r>
                      <a:endParaRPr lang="en-US" sz="1100" b="1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 and False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At least one must be True</a:t>
                      </a:r>
                      <a:endParaRPr lang="en-US" sz="1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Flips the value</a:t>
                      </a:r>
                      <a:endParaRPr lang="en-US" sz="1100" b="1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not True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6FBA87C-79BE-AB65-C921-297C175E2A6B}"/>
              </a:ext>
            </a:extLst>
          </p:cNvPr>
          <p:cNvGrpSpPr/>
          <p:nvPr/>
        </p:nvGrpSpPr>
        <p:grpSpPr>
          <a:xfrm>
            <a:off x="1106580" y="2385456"/>
            <a:ext cx="5278317" cy="1683021"/>
            <a:chOff x="182880" y="3886200"/>
            <a:chExt cx="5486400" cy="768096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676AFD77-A86A-42E9-A9A3-DCF4A634F6E7}"/>
                </a:ext>
              </a:extLst>
            </p:cNvPr>
            <p:cNvSpPr/>
            <p:nvPr/>
          </p:nvSpPr>
          <p:spPr>
            <a:xfrm>
              <a:off x="182880" y="3886200"/>
              <a:ext cx="5486400" cy="768096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03722FD1-38F0-6258-BADE-DD151599BEB5}"/>
                </a:ext>
              </a:extLst>
            </p:cNvPr>
            <p:cNvSpPr/>
            <p:nvPr/>
          </p:nvSpPr>
          <p:spPr>
            <a:xfrm>
              <a:off x="274319" y="3886200"/>
              <a:ext cx="5303520" cy="7680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a, b = 8, 12</a:t>
              </a:r>
              <a:endParaRPr lang="en-US" sz="1050" dirty="0"/>
            </a:p>
            <a:p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print(a &lt; 10 and b &gt; 10)  # True and True  → True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print(a &gt; 5  or  b &lt; 10)  # True or False  → True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print(not (a == 8))       # not True       → False</a:t>
              </a:r>
              <a:endParaRPr lang="en-US" sz="1050" dirty="0"/>
            </a:p>
            <a:p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Chained comparison (Pythonic!)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num = 7</a:t>
              </a:r>
              <a:endParaRPr lang="en-US" sz="1050" dirty="0"/>
            </a:p>
            <a:p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print(5 &lt; num &lt; 10)       # equivalent to: 5 &lt; num and num &lt; 10</a:t>
              </a:r>
              <a:endParaRPr lang="en-US" sz="1050" dirty="0"/>
            </a:p>
            <a:p>
              <a:endParaRPr lang="en-US" sz="10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D9F575-2E6F-CC96-890E-A2AFE7490B49}"/>
              </a:ext>
            </a:extLst>
          </p:cNvPr>
          <p:cNvGrpSpPr/>
          <p:nvPr/>
        </p:nvGrpSpPr>
        <p:grpSpPr>
          <a:xfrm>
            <a:off x="6595400" y="2544674"/>
            <a:ext cx="2675721" cy="1381264"/>
            <a:chOff x="5708475" y="3886200"/>
            <a:chExt cx="3161205" cy="914400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314B242-9092-F9DD-29C1-C7BE547B04F8}"/>
                </a:ext>
              </a:extLst>
            </p:cNvPr>
            <p:cNvSpPr/>
            <p:nvPr/>
          </p:nvSpPr>
          <p:spPr>
            <a:xfrm>
              <a:off x="5760720" y="3886200"/>
              <a:ext cx="3108960" cy="914400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40B7776D-12C9-C118-0580-48783FCCBA0C}"/>
                </a:ext>
              </a:extLst>
            </p:cNvPr>
            <p:cNvSpPr/>
            <p:nvPr/>
          </p:nvSpPr>
          <p:spPr>
            <a:xfrm>
              <a:off x="5708475" y="3893994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8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9D1CAE2F-C55B-9580-E5E5-B73A9012650E}"/>
                </a:ext>
              </a:extLst>
            </p:cNvPr>
            <p:cNvSpPr/>
            <p:nvPr/>
          </p:nvSpPr>
          <p:spPr>
            <a:xfrm>
              <a:off x="5845846" y="402336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en-US" sz="1000" dirty="0"/>
            </a:p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en-US" sz="1000" dirty="0"/>
            </a:p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False</a:t>
              </a:r>
              <a:endParaRPr lang="en-US" sz="1000" dirty="0"/>
            </a:p>
            <a:p>
              <a:endPara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en-US" sz="1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73E6D3-5423-4BCC-9BCC-BE0CF1F0BBD9}"/>
              </a:ext>
            </a:extLst>
          </p:cNvPr>
          <p:cNvGrpSpPr/>
          <p:nvPr/>
        </p:nvGrpSpPr>
        <p:grpSpPr>
          <a:xfrm>
            <a:off x="2454935" y="5051522"/>
            <a:ext cx="6457079" cy="835093"/>
            <a:chOff x="2454935" y="5051522"/>
            <a:chExt cx="6457079" cy="835093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BFA7DF2B-7D2D-50BA-C704-D8199803CA56}"/>
                </a:ext>
              </a:extLst>
            </p:cNvPr>
            <p:cNvSpPr/>
            <p:nvPr/>
          </p:nvSpPr>
          <p:spPr>
            <a:xfrm>
              <a:off x="3004677" y="5051522"/>
              <a:ext cx="5907337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Week1.ipynb</a:t>
              </a:r>
              <a:r>
                <a:rPr lang="en-GB" sz="1600" dirty="0"/>
                <a:t>, navigate to the section “</a:t>
              </a:r>
              <a:r>
                <a:rPr lang="en-US" sz="1600" b="1" dirty="0"/>
                <a:t>Boolean Comparisons &amp; Logical Operators</a:t>
              </a:r>
              <a:r>
                <a:rPr lang="en-GB" sz="1600" dirty="0"/>
                <a:t>” and experiment with the code in the cells below.</a:t>
              </a:r>
            </a:p>
          </p:txBody>
        </p:sp>
        <p:pic>
          <p:nvPicPr>
            <p:cNvPr id="13" name="Grafik 208">
              <a:extLst>
                <a:ext uri="{FF2B5EF4-FFF2-40B4-BE49-F238E27FC236}">
                  <a16:creationId xmlns:a16="http://schemas.microsoft.com/office/drawing/2014/main" id="{A71A6347-A84A-173E-1CAF-F0AF3A9174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4935" y="5057282"/>
              <a:ext cx="436474" cy="43647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67301-2771-E7FB-50B8-4D02478BC075}"/>
              </a:ext>
            </a:extLst>
          </p:cNvPr>
          <p:cNvGrpSpPr/>
          <p:nvPr/>
        </p:nvGrpSpPr>
        <p:grpSpPr>
          <a:xfrm>
            <a:off x="2491457" y="4150253"/>
            <a:ext cx="6406872" cy="835093"/>
            <a:chOff x="2491457" y="4150253"/>
            <a:chExt cx="6406872" cy="835093"/>
          </a:xfrm>
        </p:grpSpPr>
        <p:sp>
          <p:nvSpPr>
            <p:cNvPr id="15" name="Abgerundetes Rechteck 32">
              <a:extLst>
                <a:ext uri="{FF2B5EF4-FFF2-40B4-BE49-F238E27FC236}">
                  <a16:creationId xmlns:a16="http://schemas.microsoft.com/office/drawing/2014/main" id="{39593D23-76FA-3D12-A71D-7304FC9D22FE}"/>
                </a:ext>
              </a:extLst>
            </p:cNvPr>
            <p:cNvSpPr/>
            <p:nvPr/>
          </p:nvSpPr>
          <p:spPr>
            <a:xfrm>
              <a:off x="2977307" y="4150253"/>
              <a:ext cx="5921022" cy="83509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rgbClr val="AAA3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endParaRPr lang="en-US" sz="15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5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Simple Tracing: what does  not (5 &lt; 7 and 7 &lt; 10)  evaluate to?</a:t>
              </a:r>
              <a:endParaRPr lang="en-US" sz="1500" dirty="0">
                <a:solidFill>
                  <a:schemeClr val="bg1"/>
                </a:solidFill>
              </a:endParaRPr>
            </a:p>
            <a:p>
              <a:r>
                <a:rPr lang="en-US" sz="15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How about  not (5 &lt; 7) or 7 &lt; 10 ?</a:t>
              </a:r>
              <a:endParaRPr lang="en-US" sz="1500" dirty="0">
                <a:solidFill>
                  <a:schemeClr val="bg1"/>
                </a:solidFill>
              </a:endParaRPr>
            </a:p>
            <a:p>
              <a:endParaRPr lang="en-US" sz="16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18" name="Grafik 125">
              <a:extLst>
                <a:ext uri="{FF2B5EF4-FFF2-40B4-BE49-F238E27FC236}">
                  <a16:creationId xmlns:a16="http://schemas.microsoft.com/office/drawing/2014/main" id="{107A93EF-3343-3D73-FA09-30DC7EB9FA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91457" y="4192512"/>
              <a:ext cx="436474" cy="436474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B2CD83-0298-2174-5621-B056DAF85C09}"/>
              </a:ext>
            </a:extLst>
          </p:cNvPr>
          <p:cNvGrpSpPr/>
          <p:nvPr/>
        </p:nvGrpSpPr>
        <p:grpSpPr>
          <a:xfrm>
            <a:off x="2454935" y="5947377"/>
            <a:ext cx="6457079" cy="835093"/>
            <a:chOff x="2454935" y="5947377"/>
            <a:chExt cx="6457079" cy="835093"/>
          </a:xfrm>
        </p:grpSpPr>
        <p:pic>
          <p:nvPicPr>
            <p:cNvPr id="19" name="Grafik 216">
              <a:extLst>
                <a:ext uri="{FF2B5EF4-FFF2-40B4-BE49-F238E27FC236}">
                  <a16:creationId xmlns:a16="http://schemas.microsoft.com/office/drawing/2014/main" id="{F846E77B-A4B8-575B-9D41-BA9AEB5B9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54935" y="6099401"/>
              <a:ext cx="436474" cy="436474"/>
            </a:xfrm>
            <a:prstGeom prst="rect">
              <a:avLst/>
            </a:prstGeom>
          </p:spPr>
        </p:pic>
        <p:sp>
          <p:nvSpPr>
            <p:cNvPr id="20" name="Abgerundetes Rechteck 32">
              <a:extLst>
                <a:ext uri="{FF2B5EF4-FFF2-40B4-BE49-F238E27FC236}">
                  <a16:creationId xmlns:a16="http://schemas.microsoft.com/office/drawing/2014/main" id="{282939B5-CA5B-5E55-A911-99474871C68B}"/>
                </a:ext>
              </a:extLst>
            </p:cNvPr>
            <p:cNvSpPr/>
            <p:nvPr/>
          </p:nvSpPr>
          <p:spPr>
            <a:xfrm>
              <a:off x="2990992" y="5947377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15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Problems 5&amp;6</a:t>
              </a:r>
              <a:r>
                <a:rPr lang="en-GB" dirty="0"/>
                <a:t>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22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8F9D-DFEB-C705-9087-AA0F8DFF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665351A-FF32-A8D1-F970-46DA077C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7287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Pause / Break</a:t>
            </a:r>
            <a:endParaRPr lang="de-DE" sz="4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DF146-BFA3-10A2-A76C-02FAA122E830}"/>
              </a:ext>
            </a:extLst>
          </p:cNvPr>
          <p:cNvSpPr txBox="1"/>
          <p:nvPr/>
        </p:nvSpPr>
        <p:spPr>
          <a:xfrm>
            <a:off x="1499774" y="3921354"/>
            <a:ext cx="9192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in 15 minutes </a:t>
            </a:r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!</a:t>
            </a:r>
          </a:p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Please be on time. </a:t>
            </a: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Wednesday, 15 April 2026, 14:00–17:15</a:t>
            </a:r>
          </a:p>
        </p:txBody>
      </p:sp>
    </p:spTree>
    <p:extLst>
      <p:ext uri="{BB962C8B-B14F-4D97-AF65-F5344CB8AC3E}">
        <p14:creationId xmlns:p14="http://schemas.microsoft.com/office/powerpoint/2010/main" val="1776145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E5B1-A1C9-22B9-79C9-B023D404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663E1CD-7B04-53F4-E941-2E1EFC82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Type Casting matters?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7AB76F-7E55-BB65-640E-3ECDDAA0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FA716D-BD28-09BC-B50C-C4AB78D2D973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Data from files, APIs, or user input almost </a:t>
            </a:r>
            <a:r>
              <a:rPr lang="en-US" b="1" dirty="0">
                <a:solidFill>
                  <a:srgbClr val="DF4807"/>
                </a:solidFill>
                <a:ea typeface="Calibri" pitchFamily="34" charset="-122"/>
                <a:cs typeface="Calibri" pitchFamily="34" charset="-120"/>
              </a:rPr>
              <a:t>always arrives as strings 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even when it's a number. You must cast it before computing.</a:t>
            </a:r>
            <a:endParaRPr lang="en-US" dirty="0"/>
          </a:p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F14748-0CFB-0D17-2087-70EB1F4AB6D9}"/>
              </a:ext>
            </a:extLst>
          </p:cNvPr>
          <p:cNvGrpSpPr/>
          <p:nvPr/>
        </p:nvGrpSpPr>
        <p:grpSpPr>
          <a:xfrm>
            <a:off x="360000" y="2204102"/>
            <a:ext cx="5486400" cy="2212848"/>
            <a:chOff x="360000" y="2204102"/>
            <a:chExt cx="5486400" cy="2212848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8FE54A05-0315-9C95-75DC-27E0145152F3}"/>
                </a:ext>
              </a:extLst>
            </p:cNvPr>
            <p:cNvSpPr/>
            <p:nvPr/>
          </p:nvSpPr>
          <p:spPr>
            <a:xfrm>
              <a:off x="360000" y="2204102"/>
              <a:ext cx="5486400" cy="1954430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DE21C210-3EF7-EDB0-530A-DF75929CCAFC}"/>
                </a:ext>
              </a:extLst>
            </p:cNvPr>
            <p:cNvSpPr/>
            <p:nvPr/>
          </p:nvSpPr>
          <p:spPr>
            <a:xfrm>
              <a:off x="451440" y="2277254"/>
              <a:ext cx="5303520" cy="21396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Simulating data from a CSV file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user_age = "25"    # this came in as a string</a:t>
              </a:r>
              <a:endParaRPr lang="en-US" sz="1050" dirty="0"/>
            </a:p>
            <a:p>
              <a:pPr marL="0" indent="0">
                <a:buNone/>
              </a:pP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❌ This crashes!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result = user_age + 5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TypeError: can only concatenate str (not "int") to str</a:t>
              </a:r>
              <a:endParaRPr lang="en-US" sz="1050" dirty="0"/>
            </a:p>
            <a:p>
              <a:pPr marL="0" indent="0">
                <a:buNone/>
              </a:pP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✅ Fix: cast first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user_age_int = int(user_age)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user_age_int + 5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print(f"Age in 5 years: {result}")</a:t>
              </a:r>
              <a:endParaRPr lang="en-US" sz="1050" dirty="0"/>
            </a:p>
          </p:txBody>
        </p:sp>
      </p:grp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B8E62BDA-1CBF-7104-1618-68806754E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03291"/>
              </p:ext>
            </p:extLst>
          </p:nvPr>
        </p:nvGraphicFramePr>
        <p:xfrm>
          <a:off x="875992" y="4605222"/>
          <a:ext cx="8778240" cy="13716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Function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Converts to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Example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F4807"/>
                          </a:solidFill>
                        </a:rPr>
                        <a:t>Result</a:t>
                      </a:r>
                      <a:endParaRPr lang="en-US" sz="12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int()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int('20')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float()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float('3.5')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str()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str(42)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'42'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bool()</a:t>
                      </a:r>
                      <a:endParaRPr lang="en-US" sz="12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bool(0)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5204681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BC91E4B-D44A-8762-2147-2BFEEA198372}"/>
              </a:ext>
            </a:extLst>
          </p:cNvPr>
          <p:cNvGrpSpPr/>
          <p:nvPr/>
        </p:nvGrpSpPr>
        <p:grpSpPr>
          <a:xfrm>
            <a:off x="6203304" y="2176670"/>
            <a:ext cx="3200400" cy="2240280"/>
            <a:chOff x="6203304" y="2176670"/>
            <a:chExt cx="3200400" cy="22402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0CD321-41B0-782F-5F58-014F7104B483}"/>
                </a:ext>
              </a:extLst>
            </p:cNvPr>
            <p:cNvGrpSpPr/>
            <p:nvPr/>
          </p:nvGrpSpPr>
          <p:grpSpPr>
            <a:xfrm>
              <a:off x="6203304" y="2176670"/>
              <a:ext cx="3200400" cy="2240280"/>
              <a:chOff x="5937840" y="2204102"/>
              <a:chExt cx="3200400" cy="2240280"/>
            </a:xfrm>
          </p:grpSpPr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05F59548-792F-AFD5-CF2F-CCCB52B9ED00}"/>
                  </a:ext>
                </a:extLst>
              </p:cNvPr>
              <p:cNvSpPr/>
              <p:nvPr/>
            </p:nvSpPr>
            <p:spPr>
              <a:xfrm>
                <a:off x="5937840" y="2204102"/>
                <a:ext cx="3200400" cy="1954430"/>
              </a:xfrm>
              <a:prstGeom prst="rect">
                <a:avLst/>
              </a:prstGeom>
              <a:solidFill>
                <a:srgbClr val="252D3D"/>
              </a:solidFill>
              <a:ln w="15240">
                <a:solidFill>
                  <a:srgbClr val="F6C90E"/>
                </a:solidFill>
                <a:prstDash val="solid"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4" name="Text 8">
                <a:extLst>
                  <a:ext uri="{FF2B5EF4-FFF2-40B4-BE49-F238E27FC236}">
                    <a16:creationId xmlns:a16="http://schemas.microsoft.com/office/drawing/2014/main" id="{8781E6A7-2311-25CD-DD94-6C2C46DF1172}"/>
                  </a:ext>
                </a:extLst>
              </p:cNvPr>
              <p:cNvSpPr/>
              <p:nvPr/>
            </p:nvSpPr>
            <p:spPr>
              <a:xfrm>
                <a:off x="6029280" y="2432702"/>
                <a:ext cx="3017520" cy="2011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Age in 5 years: 30</a:t>
                </a:r>
                <a:endParaRPr lang="en-US" sz="1000" dirty="0"/>
              </a:p>
            </p:txBody>
          </p:sp>
        </p:grp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8B82FC96-6E40-2044-B5DA-08CC708FAF44}"/>
                </a:ext>
              </a:extLst>
            </p:cNvPr>
            <p:cNvSpPr/>
            <p:nvPr/>
          </p:nvSpPr>
          <p:spPr>
            <a:xfrm>
              <a:off x="6203304" y="2225074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783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2A5F-C977-F468-A22F-610C256E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6A5D5F7-9C30-5D27-AE90-44BBFB89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Truthiness – bool() on Anything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43FD0B-8F45-C14D-CD3E-3496C565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358D70-D0AA-519A-C119-E5A64B6D0BD1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Python can evaluate any value as True or False. This is called truthiness.</a:t>
            </a: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3CBF832-B44F-A206-0014-7EEE602D0014}"/>
              </a:ext>
            </a:extLst>
          </p:cNvPr>
          <p:cNvSpPr/>
          <p:nvPr/>
        </p:nvSpPr>
        <p:spPr>
          <a:xfrm>
            <a:off x="1655034" y="1990669"/>
            <a:ext cx="3200400" cy="1954430"/>
          </a:xfrm>
          <a:prstGeom prst="rect">
            <a:avLst/>
          </a:prstGeom>
          <a:solidFill>
            <a:srgbClr val="1E2433"/>
          </a:solidFill>
          <a:ln w="190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EB93FF1-20B3-F41C-C587-99366E86C3F7}"/>
              </a:ext>
            </a:extLst>
          </p:cNvPr>
          <p:cNvSpPr/>
          <p:nvPr/>
        </p:nvSpPr>
        <p:spPr>
          <a:xfrm>
            <a:off x="1655034" y="2144818"/>
            <a:ext cx="53035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200" b="1" dirty="0" err="1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</a:t>
            </a: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</a:t>
            </a:r>
          </a:p>
          <a:p>
            <a:endParaRPr lang="en-US" sz="1050" dirty="0"/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0  ·  0.0  ·  ""  ·  []  ·  {}  ·  None</a:t>
            </a:r>
          </a:p>
          <a:p>
            <a:pPr marL="0" indent="0">
              <a:buNone/>
            </a:pPr>
            <a:endParaRPr lang="en-US" sz="1050" dirty="0">
              <a:solidFill>
                <a:srgbClr val="A8D8A8"/>
              </a:solidFill>
              <a:latin typeface="Consolas" pitchFamily="34" charset="0"/>
            </a:endParaRP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bool(0)   → False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bool("")  → False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bool([])  → False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61D0D7-C0F4-28AD-7F79-3E8F94B35D86}"/>
              </a:ext>
            </a:extLst>
          </p:cNvPr>
          <p:cNvSpPr/>
          <p:nvPr/>
        </p:nvSpPr>
        <p:spPr>
          <a:xfrm>
            <a:off x="5670802" y="1990669"/>
            <a:ext cx="3200400" cy="1954430"/>
          </a:xfrm>
          <a:prstGeom prst="rect">
            <a:avLst/>
          </a:prstGeom>
          <a:solidFill>
            <a:srgbClr val="252D3D"/>
          </a:solidFill>
          <a:ln w="1524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B00DE04-1C6F-3897-304F-75A4ECC33547}"/>
              </a:ext>
            </a:extLst>
          </p:cNvPr>
          <p:cNvSpPr/>
          <p:nvPr/>
        </p:nvSpPr>
        <p:spPr>
          <a:xfrm>
            <a:off x="5670802" y="2205809"/>
            <a:ext cx="1729065" cy="17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Truthy values</a:t>
            </a:r>
            <a:endParaRPr lang="en-US" sz="1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DD7A7C6-D510-32AB-FDCB-331A5AE50F6A}"/>
              </a:ext>
            </a:extLst>
          </p:cNvPr>
          <p:cNvSpPr/>
          <p:nvPr/>
        </p:nvSpPr>
        <p:spPr>
          <a:xfrm>
            <a:off x="5762242" y="2486267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Everything else!</a:t>
            </a:r>
          </a:p>
          <a:p>
            <a:endParaRPr lang="en-US" sz="1050" dirty="0">
              <a:solidFill>
                <a:srgbClr val="A8D8A8"/>
              </a:solidFill>
              <a:latin typeface="Consolas" pitchFamily="34" charset="0"/>
            </a:endParaRP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bool(1)       → True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bool(-5)      → True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bool("hi")    → True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bool("  ")    → True</a:t>
            </a:r>
          </a:p>
          <a:p>
            <a:r>
              <a:rPr lang="en-US" sz="1050" dirty="0">
                <a:solidFill>
                  <a:srgbClr val="A8D8A8"/>
                </a:solidFill>
                <a:latin typeface="Consolas" pitchFamily="34" charset="0"/>
              </a:rPr>
              <a:t>bool([1,2,3]) → True</a:t>
            </a:r>
          </a:p>
          <a:p>
            <a:endParaRPr lang="en-US" sz="1050" dirty="0">
              <a:solidFill>
                <a:srgbClr val="A8D8A8"/>
              </a:solidFill>
              <a:latin typeface="Consolas" pitchFamily="34" charset="0"/>
            </a:endParaRPr>
          </a:p>
        </p:txBody>
      </p:sp>
      <p:sp>
        <p:nvSpPr>
          <p:cNvPr id="5" name="Abgerundetes Rechteck 32">
            <a:extLst>
              <a:ext uri="{FF2B5EF4-FFF2-40B4-BE49-F238E27FC236}">
                <a16:creationId xmlns:a16="http://schemas.microsoft.com/office/drawing/2014/main" id="{B66DB1D9-052C-39A5-2729-CD0A25644935}"/>
              </a:ext>
            </a:extLst>
          </p:cNvPr>
          <p:cNvSpPr/>
          <p:nvPr/>
        </p:nvSpPr>
        <p:spPr>
          <a:xfrm>
            <a:off x="1543776" y="4138144"/>
            <a:ext cx="7414107" cy="835093"/>
          </a:xfrm>
          <a:prstGeom prst="roundRect">
            <a:avLst/>
          </a:prstGeom>
          <a:solidFill>
            <a:schemeClr val="accent1"/>
          </a:solidFill>
          <a:ln>
            <a:solidFill>
              <a:srgbClr val="AAA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r>
              <a:rPr lang="en-US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Surprise: bool("  ") → True!  A string with only a space is NOT empty, it has content. This matters when validating user input.</a:t>
            </a:r>
            <a:endParaRPr lang="de-DE" i="1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737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43E87-EABA-EFBC-E20F-CD95884D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CCA1A9C-0418-EA1C-B9CA-C4091F34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Int() Truncates and Variable Reassignment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CDE43D-2FA0-DEB6-5D74-2A294634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C79E30-1CC9-F4D9-8D37-0ECCDF077D03}"/>
              </a:ext>
            </a:extLst>
          </p:cNvPr>
          <p:cNvSpPr txBox="1">
            <a:spLocks/>
          </p:cNvSpPr>
          <p:nvPr/>
        </p:nvSpPr>
        <p:spPr>
          <a:xfrm>
            <a:off x="236830" y="1314000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int() truncates does not round                                                               </a:t>
            </a:r>
            <a:endParaRPr lang="de-DE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9A6ADD19-1BF5-5D2C-940B-626A5ECDFBC5}"/>
              </a:ext>
            </a:extLst>
          </p:cNvPr>
          <p:cNvSpPr/>
          <p:nvPr/>
        </p:nvSpPr>
        <p:spPr>
          <a:xfrm>
            <a:off x="1655034" y="2144818"/>
            <a:ext cx="53035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5EF856-96F6-BD5F-4969-5D237C1CD801}"/>
              </a:ext>
            </a:extLst>
          </p:cNvPr>
          <p:cNvGrpSpPr/>
          <p:nvPr/>
        </p:nvGrpSpPr>
        <p:grpSpPr>
          <a:xfrm>
            <a:off x="295971" y="1678686"/>
            <a:ext cx="5303520" cy="1262329"/>
            <a:chOff x="295971" y="1678686"/>
            <a:chExt cx="5303520" cy="1262329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1FAF4373-9BBB-E28E-E661-12729C30C272}"/>
                </a:ext>
              </a:extLst>
            </p:cNvPr>
            <p:cNvSpPr/>
            <p:nvPr/>
          </p:nvSpPr>
          <p:spPr>
            <a:xfrm>
              <a:off x="295971" y="1678686"/>
              <a:ext cx="5303520" cy="1262329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9F0752-C121-059B-85FC-1CBC98A6FBE0}"/>
                </a:ext>
              </a:extLst>
            </p:cNvPr>
            <p:cNvSpPr txBox="1"/>
            <p:nvPr/>
          </p:nvSpPr>
          <p:spPr>
            <a:xfrm>
              <a:off x="295971" y="1771899"/>
              <a:ext cx="50817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int() TRUNCATES, it does NOT round!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print(int(44.4))    # 44  ✅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print(int(44.9))    # 44  ← not 45!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print(round(44.9))  # 45  ← use round() to round</a:t>
              </a:r>
              <a:endParaRPr lang="en-US" sz="1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3A259C-A956-93C0-5FC1-4AC673145F4B}"/>
              </a:ext>
            </a:extLst>
          </p:cNvPr>
          <p:cNvGrpSpPr/>
          <p:nvPr/>
        </p:nvGrpSpPr>
        <p:grpSpPr>
          <a:xfrm>
            <a:off x="282021" y="3043343"/>
            <a:ext cx="3186203" cy="2441918"/>
            <a:chOff x="5658632" y="1714580"/>
            <a:chExt cx="3186203" cy="244191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E0D2D51A-B505-1C56-D1AF-EF315E852FD7}"/>
                </a:ext>
              </a:extLst>
            </p:cNvPr>
            <p:cNvSpPr/>
            <p:nvPr/>
          </p:nvSpPr>
          <p:spPr>
            <a:xfrm>
              <a:off x="5658632" y="1714580"/>
              <a:ext cx="1903755" cy="1331317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999FE720-C450-B82F-7548-17455C74F362}"/>
                </a:ext>
              </a:extLst>
            </p:cNvPr>
            <p:cNvSpPr/>
            <p:nvPr/>
          </p:nvSpPr>
          <p:spPr>
            <a:xfrm>
              <a:off x="5827315" y="2144818"/>
              <a:ext cx="3017520" cy="20116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44</a:t>
              </a:r>
            </a:p>
            <a:p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44</a:t>
              </a:r>
            </a:p>
            <a:p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45</a:t>
              </a:r>
            </a:p>
            <a:p>
              <a:endParaRPr lang="en-US" sz="1050" dirty="0">
                <a:solidFill>
                  <a:srgbClr val="A8D8A8"/>
                </a:solidFill>
                <a:latin typeface="Consolas" pitchFamily="34" charset="0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243B603E-2535-1DB8-4379-4D79496B7E06}"/>
                </a:ext>
              </a:extLst>
            </p:cNvPr>
            <p:cNvSpPr/>
            <p:nvPr/>
          </p:nvSpPr>
          <p:spPr>
            <a:xfrm>
              <a:off x="5725993" y="1925373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1100" dirty="0"/>
            </a:p>
          </p:txBody>
        </p:sp>
      </p:grpSp>
      <p:sp>
        <p:nvSpPr>
          <p:cNvPr id="12" name="Shape 4">
            <a:extLst>
              <a:ext uri="{FF2B5EF4-FFF2-40B4-BE49-F238E27FC236}">
                <a16:creationId xmlns:a16="http://schemas.microsoft.com/office/drawing/2014/main" id="{644EB6A6-78A1-D6F7-EA73-77FBAA5B5071}"/>
              </a:ext>
            </a:extLst>
          </p:cNvPr>
          <p:cNvSpPr/>
          <p:nvPr/>
        </p:nvSpPr>
        <p:spPr>
          <a:xfrm>
            <a:off x="6417381" y="1654348"/>
            <a:ext cx="5303520" cy="1755468"/>
          </a:xfrm>
          <a:prstGeom prst="rect">
            <a:avLst/>
          </a:prstGeom>
          <a:solidFill>
            <a:srgbClr val="1E2433"/>
          </a:solidFill>
          <a:ln w="190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# Variable reassignment — labels vs objects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x = 5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print(</a:t>
            </a:r>
            <a:r>
              <a:rPr lang="en-US" sz="1400" dirty="0" err="1">
                <a:solidFill>
                  <a:srgbClr val="A8D8A8"/>
                </a:solidFill>
                <a:latin typeface="Consolas" pitchFamily="34" charset="0"/>
              </a:rPr>
              <a:t>f"x</a:t>
            </a:r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 = {x}, id = {id(x)}")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x = 10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print(</a:t>
            </a:r>
            <a:r>
              <a:rPr lang="en-US" sz="1400" dirty="0" err="1">
                <a:solidFill>
                  <a:srgbClr val="A8D8A8"/>
                </a:solidFill>
                <a:latin typeface="Consolas" pitchFamily="34" charset="0"/>
              </a:rPr>
              <a:t>f"x</a:t>
            </a:r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 = {x}, id = {id(x)}")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# id() changed → x now points to a NEW object</a:t>
            </a:r>
          </a:p>
          <a:p>
            <a:r>
              <a:rPr lang="en-US" sz="1400" dirty="0">
                <a:solidFill>
                  <a:srgbClr val="A8D8A8"/>
                </a:solidFill>
                <a:latin typeface="Consolas" pitchFamily="34" charset="0"/>
              </a:rPr>
              <a:t># The integer 5 itself was never modified</a:t>
            </a:r>
          </a:p>
          <a:p>
            <a:endParaRPr lang="en-DE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B8F340-44B5-7043-E1BF-67CDA8DE7ED3}"/>
              </a:ext>
            </a:extLst>
          </p:cNvPr>
          <p:cNvGrpSpPr/>
          <p:nvPr/>
        </p:nvGrpSpPr>
        <p:grpSpPr>
          <a:xfrm>
            <a:off x="8696544" y="3455304"/>
            <a:ext cx="5648455" cy="1331317"/>
            <a:chOff x="5725993" y="3157829"/>
            <a:chExt cx="6097348" cy="1331317"/>
          </a:xfrm>
        </p:grpSpPr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F53AB663-B7D8-8DB0-407B-66962DB2987E}"/>
                </a:ext>
              </a:extLst>
            </p:cNvPr>
            <p:cNvSpPr/>
            <p:nvPr/>
          </p:nvSpPr>
          <p:spPr>
            <a:xfrm>
              <a:off x="5790722" y="3157829"/>
              <a:ext cx="3221996" cy="1331317"/>
            </a:xfrm>
            <a:prstGeom prst="rect">
              <a:avLst/>
            </a:prstGeom>
            <a:solidFill>
              <a:srgbClr val="252D3D"/>
            </a:solidFill>
            <a:ln w="1524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78B377E0-4430-5848-A59A-013D840DD450}"/>
                </a:ext>
              </a:extLst>
            </p:cNvPr>
            <p:cNvSpPr/>
            <p:nvPr/>
          </p:nvSpPr>
          <p:spPr>
            <a:xfrm>
              <a:off x="5790722" y="3321635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11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E6C02E-4761-E8DB-012D-2E3199EA492B}"/>
                </a:ext>
              </a:extLst>
            </p:cNvPr>
            <p:cNvSpPr txBox="1"/>
            <p:nvPr/>
          </p:nvSpPr>
          <p:spPr>
            <a:xfrm>
              <a:off x="5725993" y="3673147"/>
              <a:ext cx="6097348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x = 5,  id = 140234...</a:t>
              </a:r>
            </a:p>
            <a:p>
              <a:pPr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x = 10, id = 140235...</a:t>
              </a:r>
            </a:p>
            <a:p>
              <a:pPr indent="0">
                <a:buNone/>
              </a:pPr>
              <a:r>
                <a:rPr lang="en-US" sz="1400" dirty="0">
                  <a:solidFill>
                    <a:srgbClr val="A8D8A8"/>
                  </a:solidFill>
                  <a:latin typeface="Consolas" pitchFamily="34" charset="0"/>
                </a:rPr>
                <a:t>(different memory address</a:t>
              </a:r>
              <a:r>
                <a:rPr lang="en-US" sz="18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8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78E4C6-FAEC-34E1-EF73-C1C52456172B}"/>
              </a:ext>
            </a:extLst>
          </p:cNvPr>
          <p:cNvGrpSpPr/>
          <p:nvPr/>
        </p:nvGrpSpPr>
        <p:grpSpPr>
          <a:xfrm>
            <a:off x="1233898" y="4423093"/>
            <a:ext cx="7248775" cy="596203"/>
            <a:chOff x="1233898" y="4423093"/>
            <a:chExt cx="7248775" cy="596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Abgerundetes Rechteck 32">
                  <a:extLst>
                    <a:ext uri="{FF2B5EF4-FFF2-40B4-BE49-F238E27FC236}">
                      <a16:creationId xmlns:a16="http://schemas.microsoft.com/office/drawing/2014/main" id="{0EFB28A3-2ACD-D754-D098-798D692E7046}"/>
                    </a:ext>
                  </a:extLst>
                </p:cNvPr>
                <p:cNvSpPr/>
                <p:nvPr/>
              </p:nvSpPr>
              <p:spPr>
                <a:xfrm>
                  <a:off x="1731697" y="4423093"/>
                  <a:ext cx="6750976" cy="596203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solidFill>
                    <a:srgbClr val="AAA3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16000" rtlCol="0" anchor="ctr"/>
                <a:lstStyle/>
                <a:p>
                  <a:endParaRPr lang="en-GB" sz="1400" dirty="0"/>
                </a:p>
                <a:p>
                  <a:r>
                    <a:rPr lang="en-GB" sz="1400" dirty="0"/>
                    <a:t>1. Why does Python say integers are ‘immutable’ if you can clearly reassign </a:t>
                  </a:r>
                  <a14:m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?</a:t>
                  </a:r>
                  <a:br>
                    <a:rPr lang="en-GB" sz="1400" dirty="0"/>
                  </a:br>
                  <a:r>
                    <a:rPr lang="en-GB" sz="1400" dirty="0"/>
                    <a:t>2. What exactly is immutable, the variable or the object?</a:t>
                  </a:r>
                  <a:endParaRPr lang="en-US" sz="1400" dirty="0">
                    <a:solidFill>
                      <a:schemeClr val="bg1"/>
                    </a:solidFill>
                    <a:ea typeface="Calibri" pitchFamily="34" charset="-122"/>
                    <a:cs typeface="Calibri" pitchFamily="34" charset="-120"/>
                  </a:endParaRPr>
                </a:p>
                <a:p>
                  <a:endParaRPr lang="de-DE" i="1" dirty="0">
                    <a:solidFill>
                      <a:schemeClr val="bg1"/>
                    </a:solidFill>
                    <a:ea typeface="Calibri" pitchFamily="34" charset="-122"/>
                    <a:cs typeface="Calibri" pitchFamily="34" charset="-120"/>
                  </a:endParaRPr>
                </a:p>
              </p:txBody>
            </p:sp>
          </mc:Choice>
          <mc:Fallback xmlns="">
            <p:sp>
              <p:nvSpPr>
                <p:cNvPr id="5" name="Abgerundetes Rechteck 32">
                  <a:extLst>
                    <a:ext uri="{FF2B5EF4-FFF2-40B4-BE49-F238E27FC236}">
                      <a16:creationId xmlns:a16="http://schemas.microsoft.com/office/drawing/2014/main" id="{0EFB28A3-2ACD-D754-D098-798D692E70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97" y="4423093"/>
                  <a:ext cx="6750976" cy="596203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AAA39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Grafik 125">
              <a:extLst>
                <a:ext uri="{FF2B5EF4-FFF2-40B4-BE49-F238E27FC236}">
                  <a16:creationId xmlns:a16="http://schemas.microsoft.com/office/drawing/2014/main" id="{ECC8A2A0-A57B-2E49-A98A-9D1639476D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3898" y="4502957"/>
              <a:ext cx="436474" cy="43647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85E0BF-273C-8237-CBE3-F531AF972314}"/>
              </a:ext>
            </a:extLst>
          </p:cNvPr>
          <p:cNvGrpSpPr/>
          <p:nvPr/>
        </p:nvGrpSpPr>
        <p:grpSpPr>
          <a:xfrm>
            <a:off x="1218560" y="5131289"/>
            <a:ext cx="7278077" cy="725370"/>
            <a:chOff x="1218560" y="5131289"/>
            <a:chExt cx="7278077" cy="725370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C46F944E-5964-61B5-576D-609CB2B9A67C}"/>
                </a:ext>
              </a:extLst>
            </p:cNvPr>
            <p:cNvSpPr/>
            <p:nvPr/>
          </p:nvSpPr>
          <p:spPr>
            <a:xfrm>
              <a:off x="1731696" y="5131289"/>
              <a:ext cx="6764941" cy="725370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Week1.ipynb</a:t>
              </a:r>
              <a:r>
                <a:rPr lang="en-GB" sz="1600" dirty="0"/>
                <a:t>, navigate to the section “</a:t>
              </a:r>
              <a:r>
                <a:rPr lang="en-GB" sz="1600" b="1" dirty="0"/>
                <a:t>Data Type Conversions (Type Casting)</a:t>
              </a:r>
              <a:r>
                <a:rPr lang="en-GB" sz="1600" dirty="0"/>
                <a:t>” and experiment with the code in the cells below.</a:t>
              </a:r>
            </a:p>
          </p:txBody>
        </p:sp>
        <p:pic>
          <p:nvPicPr>
            <p:cNvPr id="21" name="Grafik 208">
              <a:extLst>
                <a:ext uri="{FF2B5EF4-FFF2-40B4-BE49-F238E27FC236}">
                  <a16:creationId xmlns:a16="http://schemas.microsoft.com/office/drawing/2014/main" id="{D8370881-7C62-2E7F-612A-B366816E0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8560" y="5371591"/>
              <a:ext cx="436474" cy="43647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4B4649C-5CBD-8F8D-0673-C7D33E63810E}"/>
              </a:ext>
            </a:extLst>
          </p:cNvPr>
          <p:cNvGrpSpPr/>
          <p:nvPr/>
        </p:nvGrpSpPr>
        <p:grpSpPr>
          <a:xfrm>
            <a:off x="1192472" y="6072130"/>
            <a:ext cx="7304164" cy="693971"/>
            <a:chOff x="1192472" y="6072130"/>
            <a:chExt cx="7304164" cy="693971"/>
          </a:xfrm>
        </p:grpSpPr>
        <p:pic>
          <p:nvPicPr>
            <p:cNvPr id="22" name="Grafik 216">
              <a:extLst>
                <a:ext uri="{FF2B5EF4-FFF2-40B4-BE49-F238E27FC236}">
                  <a16:creationId xmlns:a16="http://schemas.microsoft.com/office/drawing/2014/main" id="{C63DB425-7B25-0649-CBF4-3E3FB5A68B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92472" y="6240225"/>
              <a:ext cx="436474" cy="436474"/>
            </a:xfrm>
            <a:prstGeom prst="rect">
              <a:avLst/>
            </a:prstGeom>
          </p:spPr>
        </p:pic>
        <p:sp>
          <p:nvSpPr>
            <p:cNvPr id="23" name="Abgerundetes Rechteck 32">
              <a:extLst>
                <a:ext uri="{FF2B5EF4-FFF2-40B4-BE49-F238E27FC236}">
                  <a16:creationId xmlns:a16="http://schemas.microsoft.com/office/drawing/2014/main" id="{00D3B66C-89FE-8A31-8E32-50147736E1C6}"/>
                </a:ext>
              </a:extLst>
            </p:cNvPr>
            <p:cNvSpPr/>
            <p:nvPr/>
          </p:nvSpPr>
          <p:spPr>
            <a:xfrm>
              <a:off x="1731696" y="6072130"/>
              <a:ext cx="6764940" cy="693971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15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Problems 7-11</a:t>
              </a:r>
              <a:r>
                <a:rPr lang="en-GB" dirty="0"/>
                <a:t>”.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5C3F337-37BB-A9A3-F498-B6E10874DA00}"/>
              </a:ext>
            </a:extLst>
          </p:cNvPr>
          <p:cNvSpPr txBox="1"/>
          <p:nvPr/>
        </p:nvSpPr>
        <p:spPr>
          <a:xfrm>
            <a:off x="6283643" y="1314000"/>
            <a:ext cx="7172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Variables are just labels that can be re-pointed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79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5C3A-E21F-5655-2960-4838E689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179640-B9A7-97CA-B1D0-71BD6DB5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 Precedence (PEMDAS)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81DFF2-7064-61C0-3130-5EB48BF8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3B3CEB-8BCB-BD4C-EA6D-886A700C7B5D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4BD4C9-4BCA-176D-9DFF-5F55E548F373}"/>
              </a:ext>
            </a:extLst>
          </p:cNvPr>
          <p:cNvGrpSpPr/>
          <p:nvPr/>
        </p:nvGrpSpPr>
        <p:grpSpPr>
          <a:xfrm>
            <a:off x="326464" y="2804699"/>
            <a:ext cx="5486400" cy="2150963"/>
            <a:chOff x="326464" y="2804699"/>
            <a:chExt cx="5486400" cy="2150963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0C80C4EF-69D2-F47F-B7F6-EE7766D1D3CA}"/>
                </a:ext>
              </a:extLst>
            </p:cNvPr>
            <p:cNvSpPr/>
            <p:nvPr/>
          </p:nvSpPr>
          <p:spPr>
            <a:xfrm>
              <a:off x="326464" y="2804699"/>
              <a:ext cx="5486400" cy="1954430"/>
            </a:xfrm>
            <a:prstGeom prst="rect">
              <a:avLst/>
            </a:prstGeom>
            <a:solidFill>
              <a:srgbClr val="1E2433"/>
            </a:solidFill>
            <a:ln w="19050">
              <a:solidFill>
                <a:srgbClr val="0D737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6F63A4B9-D5AF-FF80-1D68-2C65E03EF63D}"/>
                </a:ext>
              </a:extLst>
            </p:cNvPr>
            <p:cNvSpPr/>
            <p:nvPr/>
          </p:nvSpPr>
          <p:spPr>
            <a:xfrm>
              <a:off x="360000" y="2815966"/>
              <a:ext cx="5303520" cy="21396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Let's evaluate together — predict before running!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(5 + 3) * 2**3 - 4/2</a:t>
              </a:r>
              <a:endParaRPr lang="en-US" sz="1100" dirty="0"/>
            </a:p>
            <a:p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Step 1 — Parentheses:   (5+3) = 8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Step 2 — Exponent:      2**3  = 8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Step 3 — Multiply:      8 * 8 = 64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Step 4 — Divide:        4/2   = 2.0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Step 5 — Subtract:      64 - 2.0 = 62.0</a:t>
              </a:r>
              <a:endParaRPr lang="en-US" sz="1100" dirty="0"/>
            </a:p>
            <a:p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(5 + 3) * 2**3 - 4/2</a:t>
              </a:r>
              <a:endParaRPr lang="en-US" sz="1100" dirty="0"/>
            </a:p>
            <a:p>
              <a:r>
                <a:rPr lang="en-US" sz="1100" dirty="0">
                  <a:solidFill>
                    <a:srgbClr val="A8D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print(result)   # 62.0</a:t>
              </a:r>
              <a:endParaRPr lang="en-US" sz="1100" dirty="0"/>
            </a:p>
          </p:txBody>
        </p:sp>
      </p:grp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7171F30C-B5D5-7DAB-7FDA-4A5657DCE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36329"/>
              </p:ext>
            </p:extLst>
          </p:nvPr>
        </p:nvGraphicFramePr>
        <p:xfrm>
          <a:off x="1944297" y="1389550"/>
          <a:ext cx="6583680" cy="12954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Priority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Rule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F4807"/>
                          </a:solidFill>
                        </a:rPr>
                        <a:t>Operator(s)</a:t>
                      </a:r>
                      <a:endParaRPr lang="en-US" sz="1100" dirty="0">
                        <a:solidFill>
                          <a:srgbClr val="DF4807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100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Parentheses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( )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F480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100" dirty="0">
                        <a:solidFill>
                          <a:srgbClr val="DF4807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Multiplication / Division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* / // %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Addition / Subtraction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+ -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5204681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BBC721A0-FFDC-27A1-1C7E-6B7588E50ADC}"/>
              </a:ext>
            </a:extLst>
          </p:cNvPr>
          <p:cNvGrpSpPr/>
          <p:nvPr/>
        </p:nvGrpSpPr>
        <p:grpSpPr>
          <a:xfrm>
            <a:off x="1081154" y="5450612"/>
            <a:ext cx="7312732" cy="693971"/>
            <a:chOff x="1081154" y="5450612"/>
            <a:chExt cx="7312732" cy="693971"/>
          </a:xfrm>
        </p:grpSpPr>
        <p:pic>
          <p:nvPicPr>
            <p:cNvPr id="10" name="Grafik 216">
              <a:extLst>
                <a:ext uri="{FF2B5EF4-FFF2-40B4-BE49-F238E27FC236}">
                  <a16:creationId xmlns:a16="http://schemas.microsoft.com/office/drawing/2014/main" id="{4355B8C9-0969-D990-614B-BDF95A3A8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1154" y="5579360"/>
              <a:ext cx="436474" cy="436474"/>
            </a:xfrm>
            <a:prstGeom prst="rect">
              <a:avLst/>
            </a:prstGeom>
          </p:spPr>
        </p:pic>
        <p:sp>
          <p:nvSpPr>
            <p:cNvPr id="11" name="Abgerundetes Rechteck 32">
              <a:extLst>
                <a:ext uri="{FF2B5EF4-FFF2-40B4-BE49-F238E27FC236}">
                  <a16:creationId xmlns:a16="http://schemas.microsoft.com/office/drawing/2014/main" id="{CDAF6BFA-AF03-7700-CC4B-E60B05BC8592}"/>
                </a:ext>
              </a:extLst>
            </p:cNvPr>
            <p:cNvSpPr/>
            <p:nvPr/>
          </p:nvSpPr>
          <p:spPr>
            <a:xfrm>
              <a:off x="1628946" y="5450612"/>
              <a:ext cx="6764940" cy="693971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7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 12</a:t>
              </a:r>
              <a:r>
                <a:rPr lang="en-GB" dirty="0"/>
                <a:t>”.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5B3DCB-F688-E764-E064-67E5C7F69EDE}"/>
              </a:ext>
            </a:extLst>
          </p:cNvPr>
          <p:cNvGrpSpPr/>
          <p:nvPr/>
        </p:nvGrpSpPr>
        <p:grpSpPr>
          <a:xfrm>
            <a:off x="6095999" y="2799559"/>
            <a:ext cx="3200400" cy="2305312"/>
            <a:chOff x="6095999" y="2799559"/>
            <a:chExt cx="3200400" cy="23053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4230945-2C35-97E9-32DE-54D94584158F}"/>
                </a:ext>
              </a:extLst>
            </p:cNvPr>
            <p:cNvGrpSpPr/>
            <p:nvPr/>
          </p:nvGrpSpPr>
          <p:grpSpPr>
            <a:xfrm>
              <a:off x="6095999" y="2799559"/>
              <a:ext cx="3200400" cy="2305312"/>
              <a:chOff x="5902498" y="2815966"/>
              <a:chExt cx="3200400" cy="2305312"/>
            </a:xfrm>
          </p:grpSpPr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F3784942-3983-0588-650F-800D9CF1677C}"/>
                  </a:ext>
                </a:extLst>
              </p:cNvPr>
              <p:cNvSpPr/>
              <p:nvPr/>
            </p:nvSpPr>
            <p:spPr>
              <a:xfrm>
                <a:off x="5902498" y="2815966"/>
                <a:ext cx="3200400" cy="1954430"/>
              </a:xfrm>
              <a:prstGeom prst="rect">
                <a:avLst/>
              </a:prstGeom>
              <a:solidFill>
                <a:srgbClr val="252D3D"/>
              </a:solidFill>
              <a:ln w="15240">
                <a:solidFill>
                  <a:srgbClr val="F6C90E"/>
                </a:solidFill>
                <a:prstDash val="solid"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4" name="Text 8">
                <a:extLst>
                  <a:ext uri="{FF2B5EF4-FFF2-40B4-BE49-F238E27FC236}">
                    <a16:creationId xmlns:a16="http://schemas.microsoft.com/office/drawing/2014/main" id="{B6567925-4024-A0B5-757E-807D6AB36EFC}"/>
                  </a:ext>
                </a:extLst>
              </p:cNvPr>
              <p:cNvSpPr/>
              <p:nvPr/>
            </p:nvSpPr>
            <p:spPr>
              <a:xfrm>
                <a:off x="6085378" y="3109598"/>
                <a:ext cx="3017520" cy="2011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62.0</a:t>
                </a:r>
                <a:endParaRPr lang="en-US" sz="1050" dirty="0"/>
              </a:p>
            </p:txBody>
          </p:sp>
        </p:grp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2EA8FAEF-1D4A-0E25-B5AD-0BDB88873744}"/>
                </a:ext>
              </a:extLst>
            </p:cNvPr>
            <p:cNvSpPr/>
            <p:nvPr/>
          </p:nvSpPr>
          <p:spPr>
            <a:xfrm>
              <a:off x="6095999" y="2895690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6C90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▶ Output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58628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71BB-4E60-9CC0-6A74-7748F307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6987468-221D-B369-5B0D-047791EC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Integration Challenge: Banking Transaction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F1D669-5031-7F73-527B-2E5DAB62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90370F-D4D3-717B-9B1D-B54E8D46E9F8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37C220F-EFF6-6321-DF99-5E48570BFE04}"/>
              </a:ext>
            </a:extLst>
          </p:cNvPr>
          <p:cNvSpPr/>
          <p:nvPr/>
        </p:nvSpPr>
        <p:spPr>
          <a:xfrm>
            <a:off x="6085378" y="3109598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62.0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BE4D52-1DD1-2D65-5DB6-67FFFB02BCFA}"/>
              </a:ext>
            </a:extLst>
          </p:cNvPr>
          <p:cNvGrpSpPr/>
          <p:nvPr/>
        </p:nvGrpSpPr>
        <p:grpSpPr>
          <a:xfrm>
            <a:off x="1260442" y="4067739"/>
            <a:ext cx="7442931" cy="693971"/>
            <a:chOff x="1260442" y="4067739"/>
            <a:chExt cx="7442931" cy="693971"/>
          </a:xfrm>
        </p:grpSpPr>
        <p:pic>
          <p:nvPicPr>
            <p:cNvPr id="10" name="Grafik 216">
              <a:extLst>
                <a:ext uri="{FF2B5EF4-FFF2-40B4-BE49-F238E27FC236}">
                  <a16:creationId xmlns:a16="http://schemas.microsoft.com/office/drawing/2014/main" id="{CCD78806-7C64-CA8A-FA8B-4AE748B870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0442" y="4196487"/>
              <a:ext cx="436474" cy="436474"/>
            </a:xfrm>
            <a:prstGeom prst="rect">
              <a:avLst/>
            </a:prstGeom>
          </p:spPr>
        </p:pic>
        <p:sp>
          <p:nvSpPr>
            <p:cNvPr id="11" name="Abgerundetes Rechteck 32">
              <a:extLst>
                <a:ext uri="{FF2B5EF4-FFF2-40B4-BE49-F238E27FC236}">
                  <a16:creationId xmlns:a16="http://schemas.microsoft.com/office/drawing/2014/main" id="{75B841A7-8073-7971-A283-1785C65CD0C8}"/>
                </a:ext>
              </a:extLst>
            </p:cNvPr>
            <p:cNvSpPr/>
            <p:nvPr/>
          </p:nvSpPr>
          <p:spPr>
            <a:xfrm>
              <a:off x="1938433" y="4067739"/>
              <a:ext cx="6764940" cy="693971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Week1_Exercise.ipynb</a:t>
              </a:r>
              <a:r>
                <a:rPr lang="en-GB" dirty="0"/>
                <a:t>, you have 7 minutes to solve “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Problem 13</a:t>
              </a:r>
              <a:r>
                <a:rPr lang="en-GB" dirty="0"/>
                <a:t>”.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8E37B65-BC4F-FA68-15FA-A06DD242C99F}"/>
              </a:ext>
            </a:extLst>
          </p:cNvPr>
          <p:cNvSpPr txBox="1"/>
          <p:nvPr/>
        </p:nvSpPr>
        <p:spPr>
          <a:xfrm>
            <a:off x="236829" y="1286526"/>
            <a:ext cx="11793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Problem (13) in </a:t>
            </a:r>
            <a:r>
              <a:rPr lang="en-US" b="1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Week1_Exercise.ipynb 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combines: </a:t>
            </a:r>
          </a:p>
          <a:p>
            <a:pPr marL="0" indent="0">
              <a:buNone/>
            </a:pP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6776E-9CCE-0E96-0C8C-C85F4ACF1AF4}"/>
              </a:ext>
            </a:extLst>
          </p:cNvPr>
          <p:cNvSpPr txBox="1"/>
          <p:nvPr/>
        </p:nvSpPr>
        <p:spPr>
          <a:xfrm>
            <a:off x="236828" y="1572279"/>
            <a:ext cx="6094674" cy="2209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D54407"/>
              </a:buClr>
              <a:buSzTx/>
              <a:buFont typeface="SRH Text" panose="020B0503020204020204" pitchFamily="34" charset="0"/>
              <a:buChar char="—"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V</a:t>
            </a:r>
            <a:r>
              <a:rPr lang="de-DE" dirty="0">
                <a:solidFill>
                  <a:srgbClr val="575756"/>
                </a:solidFill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ariables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D54407"/>
              </a:buClr>
              <a:buSzTx/>
              <a:buFont typeface="SRH Text" panose="020B0503020204020204" pitchFamily="34" charset="0"/>
              <a:buChar char="—"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Type casting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D54407"/>
              </a:buClr>
              <a:buSzTx/>
              <a:buFont typeface="SRH Text" panose="020B0503020204020204" pitchFamily="34" charset="0"/>
              <a:buChar char="—"/>
              <a:tabLst/>
              <a:defRPr/>
            </a:pPr>
            <a:r>
              <a:rPr lang="de-DE" dirty="0">
                <a:solidFill>
                  <a:srgbClr val="575756"/>
                </a:solidFill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Boolean Comparison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D54407"/>
              </a:buClr>
              <a:buSzTx/>
              <a:buFont typeface="SRH Text" panose="020B0503020204020204" pitchFamily="34" charset="0"/>
              <a:buChar char="—"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Arithmetic Operations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D54407"/>
              </a:buClr>
              <a:buSzTx/>
              <a:buFont typeface="SRH Text" panose="020B0503020204020204" pitchFamily="34" charset="0"/>
              <a:buChar char="—"/>
              <a:tabLst/>
              <a:defRPr/>
            </a:pPr>
            <a:r>
              <a:rPr lang="de-DE" dirty="0">
                <a:solidFill>
                  <a:srgbClr val="575756"/>
                </a:solidFill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Print Formatting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A898AC-A95C-B483-6C18-08379D7F110E}"/>
              </a:ext>
            </a:extLst>
          </p:cNvPr>
          <p:cNvGrpSpPr/>
          <p:nvPr/>
        </p:nvGrpSpPr>
        <p:grpSpPr>
          <a:xfrm>
            <a:off x="1260442" y="5206076"/>
            <a:ext cx="7428967" cy="596203"/>
            <a:chOff x="1260442" y="5206076"/>
            <a:chExt cx="7428967" cy="596203"/>
          </a:xfrm>
        </p:grpSpPr>
        <p:sp>
          <p:nvSpPr>
            <p:cNvPr id="21" name="Abgerundetes Rechteck 32">
              <a:extLst>
                <a:ext uri="{FF2B5EF4-FFF2-40B4-BE49-F238E27FC236}">
                  <a16:creationId xmlns:a16="http://schemas.microsoft.com/office/drawing/2014/main" id="{9B12293C-F297-FBA2-19D8-37AFB98D3660}"/>
                </a:ext>
              </a:extLst>
            </p:cNvPr>
            <p:cNvSpPr/>
            <p:nvPr/>
          </p:nvSpPr>
          <p:spPr>
            <a:xfrm>
              <a:off x="1938433" y="5206076"/>
              <a:ext cx="6750976" cy="59620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rgbClr val="AAA3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endParaRPr lang="en-GB" sz="1400" dirty="0"/>
            </a:p>
            <a:p>
              <a:endPara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dirty="0"/>
                <a:t>What if </a:t>
              </a:r>
              <a:r>
                <a:rPr lang="en-US" dirty="0" err="1"/>
                <a:t>withdrawal_amount</a:t>
              </a:r>
              <a:r>
                <a:rPr lang="en-US" dirty="0"/>
                <a:t> was '1500'? Which variables change, and which don't? What would </a:t>
              </a:r>
              <a:r>
                <a:rPr lang="en-US" dirty="0" err="1"/>
                <a:t>can_withdraw</a:t>
              </a:r>
              <a:r>
                <a:rPr lang="en-US" dirty="0"/>
                <a:t> be?</a:t>
              </a:r>
            </a:p>
            <a:p>
              <a:endPara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de-DE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22" name="Grafik 125">
              <a:extLst>
                <a:ext uri="{FF2B5EF4-FFF2-40B4-BE49-F238E27FC236}">
                  <a16:creationId xmlns:a16="http://schemas.microsoft.com/office/drawing/2014/main" id="{E9B691B0-E88A-D588-479B-0D52964C66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0442" y="5285721"/>
              <a:ext cx="436474" cy="436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31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4AFA-B101-A27E-BACC-F95F4CA9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9A80083-9392-293E-B063-CD3BAE2D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What did we learn today?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5864AB-1277-269D-B5ED-A463D27D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08C89A-A611-32D1-049D-B1B2C4B8F0E6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397A670-EEB7-FB90-2895-A2F0C5B68FC5}"/>
              </a:ext>
            </a:extLst>
          </p:cNvPr>
          <p:cNvSpPr/>
          <p:nvPr/>
        </p:nvSpPr>
        <p:spPr>
          <a:xfrm>
            <a:off x="6085378" y="3109598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62.0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79A938-8067-548E-B294-26D2E86CDFC1}"/>
              </a:ext>
            </a:extLst>
          </p:cNvPr>
          <p:cNvGrpSpPr/>
          <p:nvPr/>
        </p:nvGrpSpPr>
        <p:grpSpPr>
          <a:xfrm>
            <a:off x="683812" y="1456095"/>
            <a:ext cx="4206240" cy="914400"/>
            <a:chOff x="683812" y="1456095"/>
            <a:chExt cx="4206240" cy="914400"/>
          </a:xfrm>
        </p:grpSpPr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286F0E4E-E273-D061-7192-D7173B5D9B9A}"/>
                </a:ext>
              </a:extLst>
            </p:cNvPr>
            <p:cNvSpPr/>
            <p:nvPr/>
          </p:nvSpPr>
          <p:spPr>
            <a:xfrm>
              <a:off x="68381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47BF0B76-8E61-1E49-B945-9F0D40625AB8}"/>
                </a:ext>
              </a:extLst>
            </p:cNvPr>
            <p:cNvSpPr/>
            <p:nvPr/>
          </p:nvSpPr>
          <p:spPr>
            <a:xfrm>
              <a:off x="1342180" y="1510959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Environment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3BDDF7FE-3C21-451D-E622-66D24316088B}"/>
                </a:ext>
              </a:extLst>
            </p:cNvPr>
            <p:cNvSpPr/>
            <p:nvPr/>
          </p:nvSpPr>
          <p:spPr>
            <a:xfrm>
              <a:off x="1342180" y="1803567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100" dirty="0" err="1"/>
                <a:t>Jupyter</a:t>
              </a:r>
              <a:r>
                <a:rPr lang="en-GB" sz="1100" dirty="0"/>
                <a:t> Notebook, integrated within Visual Studio Code, serves as the primary coding environment</a:t>
              </a:r>
              <a:endParaRPr lang="en-US" sz="11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6BFFBD-E105-BB9E-07F7-A998595A9B1B}"/>
              </a:ext>
            </a:extLst>
          </p:cNvPr>
          <p:cNvGrpSpPr/>
          <p:nvPr/>
        </p:nvGrpSpPr>
        <p:grpSpPr>
          <a:xfrm>
            <a:off x="5118652" y="1456095"/>
            <a:ext cx="4206240" cy="914400"/>
            <a:chOff x="5118652" y="1456095"/>
            <a:chExt cx="4206240" cy="914400"/>
          </a:xfrm>
        </p:grpSpPr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432800EC-E174-87C8-89F1-B03850AA5798}"/>
                </a:ext>
              </a:extLst>
            </p:cNvPr>
            <p:cNvSpPr/>
            <p:nvPr/>
          </p:nvSpPr>
          <p:spPr>
            <a:xfrm>
              <a:off x="511865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E3C67E34-F51C-E066-647C-BA1E0700A63A}"/>
                </a:ext>
              </a:extLst>
            </p:cNvPr>
            <p:cNvSpPr/>
            <p:nvPr/>
          </p:nvSpPr>
          <p:spPr>
            <a:xfrm>
              <a:off x="5777020" y="1510959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Variables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9BA461B3-7414-035E-2191-B2D58B8EFE90}"/>
                </a:ext>
              </a:extLst>
            </p:cNvPr>
            <p:cNvSpPr/>
            <p:nvPr/>
          </p:nvSpPr>
          <p:spPr>
            <a:xfrm>
              <a:off x="5777020" y="1803567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Named labels pointing to typed values in memory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4B4BB1-7D8F-4A79-09B7-9E86D1630BC9}"/>
              </a:ext>
            </a:extLst>
          </p:cNvPr>
          <p:cNvGrpSpPr/>
          <p:nvPr/>
        </p:nvGrpSpPr>
        <p:grpSpPr>
          <a:xfrm>
            <a:off x="683812" y="2480223"/>
            <a:ext cx="4206240" cy="914400"/>
            <a:chOff x="683812" y="2480223"/>
            <a:chExt cx="4206240" cy="914400"/>
          </a:xfrm>
        </p:grpSpPr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A73761CD-47F4-EAB8-7A25-E5EC265510B1}"/>
                </a:ext>
              </a:extLst>
            </p:cNvPr>
            <p:cNvSpPr/>
            <p:nvPr/>
          </p:nvSpPr>
          <p:spPr>
            <a:xfrm>
              <a:off x="68381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F3E87FC5-78CA-F29A-E5AA-DDF0AB94F6C3}"/>
                </a:ext>
              </a:extLst>
            </p:cNvPr>
            <p:cNvSpPr/>
            <p:nvPr/>
          </p:nvSpPr>
          <p:spPr>
            <a:xfrm>
              <a:off x="134218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Data Types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612E97B9-C600-79AF-1097-50F7ED2C39BD}"/>
                </a:ext>
              </a:extLst>
            </p:cNvPr>
            <p:cNvSpPr/>
            <p:nvPr/>
          </p:nvSpPr>
          <p:spPr>
            <a:xfrm>
              <a:off x="134218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int · float · str · bool · list · tuple · </a:t>
              </a:r>
              <a:r>
                <a:rPr lang="en-US" sz="1100" dirty="0" err="1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dict</a:t>
              </a:r>
              <a:endParaRPr lang="en-US" sz="11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9102CC-8071-20C9-F41B-7D27B99B8336}"/>
              </a:ext>
            </a:extLst>
          </p:cNvPr>
          <p:cNvGrpSpPr/>
          <p:nvPr/>
        </p:nvGrpSpPr>
        <p:grpSpPr>
          <a:xfrm>
            <a:off x="5118652" y="2480223"/>
            <a:ext cx="4206240" cy="914400"/>
            <a:chOff x="5118652" y="2480223"/>
            <a:chExt cx="4206240" cy="914400"/>
          </a:xfrm>
        </p:grpSpPr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D0AF4465-EA1A-B5CB-9C15-E9796CD13C6F}"/>
                </a:ext>
              </a:extLst>
            </p:cNvPr>
            <p:cNvSpPr/>
            <p:nvPr/>
          </p:nvSpPr>
          <p:spPr>
            <a:xfrm>
              <a:off x="511865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61" name="Text 17">
              <a:extLst>
                <a:ext uri="{FF2B5EF4-FFF2-40B4-BE49-F238E27FC236}">
                  <a16:creationId xmlns:a16="http://schemas.microsoft.com/office/drawing/2014/main" id="{C798E75E-D401-7A25-468D-02AA0EEBCE6A}"/>
                </a:ext>
              </a:extLst>
            </p:cNvPr>
            <p:cNvSpPr/>
            <p:nvPr/>
          </p:nvSpPr>
          <p:spPr>
            <a:xfrm>
              <a:off x="577702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f-strings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62" name="Text 18">
              <a:extLst>
                <a:ext uri="{FF2B5EF4-FFF2-40B4-BE49-F238E27FC236}">
                  <a16:creationId xmlns:a16="http://schemas.microsoft.com/office/drawing/2014/main" id="{F51ACA51-DE35-22E1-64A5-F7E7324D326B}"/>
                </a:ext>
              </a:extLst>
            </p:cNvPr>
            <p:cNvSpPr/>
            <p:nvPr/>
          </p:nvSpPr>
          <p:spPr>
            <a:xfrm>
              <a:off x="577702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Modern, clean string formatting with embedded expressions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C551533-E3D3-F415-1074-B856CB9280D2}"/>
              </a:ext>
            </a:extLst>
          </p:cNvPr>
          <p:cNvGrpSpPr/>
          <p:nvPr/>
        </p:nvGrpSpPr>
        <p:grpSpPr>
          <a:xfrm>
            <a:off x="683812" y="3504351"/>
            <a:ext cx="4206240" cy="914400"/>
            <a:chOff x="683812" y="3504351"/>
            <a:chExt cx="4206240" cy="914400"/>
          </a:xfrm>
        </p:grpSpPr>
        <p:sp>
          <p:nvSpPr>
            <p:cNvPr id="63" name="Shape 19">
              <a:extLst>
                <a:ext uri="{FF2B5EF4-FFF2-40B4-BE49-F238E27FC236}">
                  <a16:creationId xmlns:a16="http://schemas.microsoft.com/office/drawing/2014/main" id="{387407E7-9F0E-EDF0-0210-7B23F44F1EF6}"/>
                </a:ext>
              </a:extLst>
            </p:cNvPr>
            <p:cNvSpPr/>
            <p:nvPr/>
          </p:nvSpPr>
          <p:spPr>
            <a:xfrm>
              <a:off x="683812" y="3504351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65" name="Text 21">
              <a:extLst>
                <a:ext uri="{FF2B5EF4-FFF2-40B4-BE49-F238E27FC236}">
                  <a16:creationId xmlns:a16="http://schemas.microsoft.com/office/drawing/2014/main" id="{213D318A-2F35-E3D0-8BC0-2AB5C7C2FAC5}"/>
                </a:ext>
              </a:extLst>
            </p:cNvPr>
            <p:cNvSpPr/>
            <p:nvPr/>
          </p:nvSpPr>
          <p:spPr>
            <a:xfrm>
              <a:off x="1342180" y="3559215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Arithmetic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66" name="Text 22">
              <a:extLst>
                <a:ext uri="{FF2B5EF4-FFF2-40B4-BE49-F238E27FC236}">
                  <a16:creationId xmlns:a16="http://schemas.microsoft.com/office/drawing/2014/main" id="{18CCC382-5834-07DC-014C-2F8BBD4560A2}"/>
                </a:ext>
              </a:extLst>
            </p:cNvPr>
            <p:cNvSpPr/>
            <p:nvPr/>
          </p:nvSpPr>
          <p:spPr>
            <a:xfrm>
              <a:off x="1342180" y="3851823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7 operators: + − * / // % ** :  know when / returns float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4B959D-3F9E-A4B2-4C34-0D63935E611C}"/>
              </a:ext>
            </a:extLst>
          </p:cNvPr>
          <p:cNvGrpSpPr/>
          <p:nvPr/>
        </p:nvGrpSpPr>
        <p:grpSpPr>
          <a:xfrm>
            <a:off x="5118652" y="3504351"/>
            <a:ext cx="4206240" cy="914400"/>
            <a:chOff x="5118652" y="3504351"/>
            <a:chExt cx="4206240" cy="914400"/>
          </a:xfrm>
        </p:grpSpPr>
        <p:sp>
          <p:nvSpPr>
            <p:cNvPr id="67" name="Shape 23">
              <a:extLst>
                <a:ext uri="{FF2B5EF4-FFF2-40B4-BE49-F238E27FC236}">
                  <a16:creationId xmlns:a16="http://schemas.microsoft.com/office/drawing/2014/main" id="{399D261B-A208-09A8-7AD0-4143E7B80C17}"/>
                </a:ext>
              </a:extLst>
            </p:cNvPr>
            <p:cNvSpPr/>
            <p:nvPr/>
          </p:nvSpPr>
          <p:spPr>
            <a:xfrm>
              <a:off x="5118652" y="3504351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69" name="Text 25">
              <a:extLst>
                <a:ext uri="{FF2B5EF4-FFF2-40B4-BE49-F238E27FC236}">
                  <a16:creationId xmlns:a16="http://schemas.microsoft.com/office/drawing/2014/main" id="{8D74E0F5-74D9-BA44-53EE-073886ED467C}"/>
                </a:ext>
              </a:extLst>
            </p:cNvPr>
            <p:cNvSpPr/>
            <p:nvPr/>
          </p:nvSpPr>
          <p:spPr>
            <a:xfrm>
              <a:off x="5777020" y="3559215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Booleans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70" name="Text 26">
              <a:extLst>
                <a:ext uri="{FF2B5EF4-FFF2-40B4-BE49-F238E27FC236}">
                  <a16:creationId xmlns:a16="http://schemas.microsoft.com/office/drawing/2014/main" id="{F2133B5E-BC6D-477F-4084-C57E18A4C2D2}"/>
                </a:ext>
              </a:extLst>
            </p:cNvPr>
            <p:cNvSpPr/>
            <p:nvPr/>
          </p:nvSpPr>
          <p:spPr>
            <a:xfrm>
              <a:off x="5777020" y="3851823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Comparisons (== != &gt; &lt; &gt;= &lt;=) and logic (and or not)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3061B19-2B80-B731-25B0-A76921C6AF9B}"/>
              </a:ext>
            </a:extLst>
          </p:cNvPr>
          <p:cNvGrpSpPr/>
          <p:nvPr/>
        </p:nvGrpSpPr>
        <p:grpSpPr>
          <a:xfrm>
            <a:off x="683812" y="4528479"/>
            <a:ext cx="4206240" cy="914400"/>
            <a:chOff x="683812" y="4528479"/>
            <a:chExt cx="4206240" cy="914400"/>
          </a:xfrm>
        </p:grpSpPr>
        <p:sp>
          <p:nvSpPr>
            <p:cNvPr id="71" name="Shape 27">
              <a:extLst>
                <a:ext uri="{FF2B5EF4-FFF2-40B4-BE49-F238E27FC236}">
                  <a16:creationId xmlns:a16="http://schemas.microsoft.com/office/drawing/2014/main" id="{B4FC3B69-CBA0-1BAE-F8C5-4CB6625868AE}"/>
                </a:ext>
              </a:extLst>
            </p:cNvPr>
            <p:cNvSpPr/>
            <p:nvPr/>
          </p:nvSpPr>
          <p:spPr>
            <a:xfrm>
              <a:off x="683812" y="4528479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73" name="Text 29">
              <a:extLst>
                <a:ext uri="{FF2B5EF4-FFF2-40B4-BE49-F238E27FC236}">
                  <a16:creationId xmlns:a16="http://schemas.microsoft.com/office/drawing/2014/main" id="{957EE387-B779-EDD9-80AD-D1CF7D61C19C}"/>
                </a:ext>
              </a:extLst>
            </p:cNvPr>
            <p:cNvSpPr/>
            <p:nvPr/>
          </p:nvSpPr>
          <p:spPr>
            <a:xfrm>
              <a:off x="1342180" y="4583343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Type Casting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74" name="Text 30">
              <a:extLst>
                <a:ext uri="{FF2B5EF4-FFF2-40B4-BE49-F238E27FC236}">
                  <a16:creationId xmlns:a16="http://schemas.microsoft.com/office/drawing/2014/main" id="{5DD47366-DFB8-CA23-9157-F149B85148BC}"/>
                </a:ext>
              </a:extLst>
            </p:cNvPr>
            <p:cNvSpPr/>
            <p:nvPr/>
          </p:nvSpPr>
          <p:spPr>
            <a:xfrm>
              <a:off x="1342180" y="4875951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int() float() str() bool() : essential for data cleaning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5D64ED-0461-9CE2-722B-8EC9165EF214}"/>
              </a:ext>
            </a:extLst>
          </p:cNvPr>
          <p:cNvGrpSpPr/>
          <p:nvPr/>
        </p:nvGrpSpPr>
        <p:grpSpPr>
          <a:xfrm>
            <a:off x="5118652" y="4528479"/>
            <a:ext cx="4206240" cy="914400"/>
            <a:chOff x="5118652" y="4528479"/>
            <a:chExt cx="4206240" cy="914400"/>
          </a:xfrm>
        </p:grpSpPr>
        <p:sp>
          <p:nvSpPr>
            <p:cNvPr id="75" name="Shape 31">
              <a:extLst>
                <a:ext uri="{FF2B5EF4-FFF2-40B4-BE49-F238E27FC236}">
                  <a16:creationId xmlns:a16="http://schemas.microsoft.com/office/drawing/2014/main" id="{5EDBD301-B584-A31E-B371-CF9D7E3857E0}"/>
                </a:ext>
              </a:extLst>
            </p:cNvPr>
            <p:cNvSpPr/>
            <p:nvPr/>
          </p:nvSpPr>
          <p:spPr>
            <a:xfrm>
              <a:off x="5118652" y="4528479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77" name="Text 33">
              <a:extLst>
                <a:ext uri="{FF2B5EF4-FFF2-40B4-BE49-F238E27FC236}">
                  <a16:creationId xmlns:a16="http://schemas.microsoft.com/office/drawing/2014/main" id="{57A3BB8F-0722-4FD0-B21A-14E4DB8EA774}"/>
                </a:ext>
              </a:extLst>
            </p:cNvPr>
            <p:cNvSpPr/>
            <p:nvPr/>
          </p:nvSpPr>
          <p:spPr>
            <a:xfrm>
              <a:off x="5777020" y="4583343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Immutability</a:t>
              </a:r>
              <a:endParaRPr lang="en-US" sz="12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78" name="Text 34">
              <a:extLst>
                <a:ext uri="{FF2B5EF4-FFF2-40B4-BE49-F238E27FC236}">
                  <a16:creationId xmlns:a16="http://schemas.microsoft.com/office/drawing/2014/main" id="{B419B939-8FC8-C231-11DE-B9297D5B5F9D}"/>
                </a:ext>
              </a:extLst>
            </p:cNvPr>
            <p:cNvSpPr/>
            <p:nvPr/>
          </p:nvSpPr>
          <p:spPr>
            <a:xfrm>
              <a:off x="5777020" y="4875951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1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Variables are labels; integers are immutable objects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03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D7E0-CE57-A823-1D4A-FA6FEE9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329CE88-96DC-D5D3-2161-2AE1190F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Take-Home Assignments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4923AF-69C9-56E6-1589-71160D79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27</a:t>
            </a:fld>
            <a:endParaRPr lang="de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275510-ACA1-3C53-56CF-501179B13542}"/>
              </a:ext>
            </a:extLst>
          </p:cNvPr>
          <p:cNvGrpSpPr/>
          <p:nvPr/>
        </p:nvGrpSpPr>
        <p:grpSpPr>
          <a:xfrm>
            <a:off x="389155" y="2593024"/>
            <a:ext cx="8686800" cy="1691640"/>
            <a:chOff x="360000" y="2176913"/>
            <a:chExt cx="8686800" cy="169164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6536470-D23A-00A5-0D88-37130F32EEB6}"/>
                </a:ext>
              </a:extLst>
            </p:cNvPr>
            <p:cNvGrpSpPr/>
            <p:nvPr/>
          </p:nvGrpSpPr>
          <p:grpSpPr>
            <a:xfrm>
              <a:off x="360000" y="2176913"/>
              <a:ext cx="8686800" cy="1691640"/>
              <a:chOff x="389155" y="1860605"/>
              <a:chExt cx="8686800" cy="1691640"/>
            </a:xfrm>
          </p:grpSpPr>
          <p:sp>
            <p:nvSpPr>
              <p:cNvPr id="4" name="Shape 4">
                <a:extLst>
                  <a:ext uri="{FF2B5EF4-FFF2-40B4-BE49-F238E27FC236}">
                    <a16:creationId xmlns:a16="http://schemas.microsoft.com/office/drawing/2014/main" id="{E1F41F9C-A9CA-0B32-4BA9-ADADD0CE81CB}"/>
                  </a:ext>
                </a:extLst>
              </p:cNvPr>
              <p:cNvSpPr/>
              <p:nvPr/>
            </p:nvSpPr>
            <p:spPr>
              <a:xfrm>
                <a:off x="389155" y="1860605"/>
                <a:ext cx="8686800" cy="1691640"/>
              </a:xfrm>
              <a:prstGeom prst="rect">
                <a:avLst/>
              </a:prstGeom>
              <a:solidFill>
                <a:srgbClr val="FFFFFF"/>
              </a:solidFill>
              <a:ln w="15240">
                <a:solidFill>
                  <a:schemeClr val="bg2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5" name="Shape 5">
                <a:extLst>
                  <a:ext uri="{FF2B5EF4-FFF2-40B4-BE49-F238E27FC236}">
                    <a16:creationId xmlns:a16="http://schemas.microsoft.com/office/drawing/2014/main" id="{DE46A64A-CC08-D724-82A3-FFF4E9580504}"/>
                  </a:ext>
                </a:extLst>
              </p:cNvPr>
              <p:cNvSpPr/>
              <p:nvPr/>
            </p:nvSpPr>
            <p:spPr>
              <a:xfrm>
                <a:off x="389155" y="1860605"/>
                <a:ext cx="914400" cy="1691640"/>
              </a:xfrm>
              <a:prstGeom prst="rect">
                <a:avLst/>
              </a:prstGeom>
              <a:solidFill>
                <a:srgbClr val="DF4807"/>
              </a:solidFill>
              <a:ln w="12700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DE">
                  <a:solidFill>
                    <a:srgbClr val="DF4807"/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7C2DAED-A00F-288B-AF17-5780EDF0AAA1}"/>
                </a:ext>
              </a:extLst>
            </p:cNvPr>
            <p:cNvGrpSpPr/>
            <p:nvPr/>
          </p:nvGrpSpPr>
          <p:grpSpPr>
            <a:xfrm>
              <a:off x="389155" y="2305449"/>
              <a:ext cx="8458200" cy="1109636"/>
              <a:chOff x="389155" y="2305449"/>
              <a:chExt cx="8458200" cy="1109636"/>
            </a:xfrm>
          </p:grpSpPr>
          <p:sp>
            <p:nvSpPr>
              <p:cNvPr id="6" name="Text 6">
                <a:extLst>
                  <a:ext uri="{FF2B5EF4-FFF2-40B4-BE49-F238E27FC236}">
                    <a16:creationId xmlns:a16="http://schemas.microsoft.com/office/drawing/2014/main" id="{5B764C39-3992-1F00-2F57-14FDE707F43F}"/>
                  </a:ext>
                </a:extLst>
              </p:cNvPr>
              <p:cNvSpPr/>
              <p:nvPr/>
            </p:nvSpPr>
            <p:spPr>
              <a:xfrm>
                <a:off x="389155" y="2363525"/>
                <a:ext cx="91440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P14</a:t>
                </a:r>
                <a:endParaRPr lang="en-US" sz="1400" dirty="0"/>
              </a:p>
            </p:txBody>
          </p:sp>
          <p:sp>
            <p:nvSpPr>
              <p:cNvPr id="8" name="Text 7">
                <a:extLst>
                  <a:ext uri="{FF2B5EF4-FFF2-40B4-BE49-F238E27FC236}">
                    <a16:creationId xmlns:a16="http://schemas.microsoft.com/office/drawing/2014/main" id="{F9B2989E-9E52-4F8D-5E0A-0FF4168363B2}"/>
                  </a:ext>
                </a:extLst>
              </p:cNvPr>
              <p:cNvSpPr/>
              <p:nvPr/>
            </p:nvSpPr>
            <p:spPr>
              <a:xfrm>
                <a:off x="1440715" y="2305449"/>
                <a:ext cx="740664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A2E4A"/>
                    </a:solidFill>
                    <a:latin typeface="+mj-lt"/>
                    <a:ea typeface="Calibri" pitchFamily="34" charset="-122"/>
                    <a:cs typeface="Calibri" pitchFamily="34" charset="-120"/>
                  </a:rPr>
                  <a:t>Student Enrollment</a:t>
                </a:r>
                <a:endParaRPr lang="en-US" sz="1400" dirty="0">
                  <a:latin typeface="+mj-lt"/>
                </a:endParaRPr>
              </a:p>
            </p:txBody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6BD7AC7F-F1BB-549E-1F54-A7F3FBB3A063}"/>
                  </a:ext>
                </a:extLst>
              </p:cNvPr>
              <p:cNvSpPr/>
              <p:nvPr/>
            </p:nvSpPr>
            <p:spPr>
              <a:xfrm>
                <a:off x="1440715" y="2372669"/>
                <a:ext cx="740664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115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2D3748"/>
                    </a:solidFill>
                    <a:ea typeface="Calibri" pitchFamily="34" charset="-122"/>
                    <a:cs typeface="Calibri" pitchFamily="34" charset="-120"/>
                  </a:rPr>
                  <a:t>Combine age (string → int), credits (int), and two booleans to determine if a student can enroll.</a:t>
                </a:r>
                <a:endParaRPr lang="en-US" sz="1150" dirty="0"/>
              </a:p>
            </p:txBody>
          </p:sp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CD5D7CC9-E600-8EC5-D771-401370F646F6}"/>
                  </a:ext>
                </a:extLst>
              </p:cNvPr>
              <p:cNvSpPr/>
              <p:nvPr/>
            </p:nvSpPr>
            <p:spPr>
              <a:xfrm>
                <a:off x="1440715" y="3122477"/>
                <a:ext cx="74066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i="1" dirty="0">
                    <a:solidFill>
                      <a:srgbClr val="DF4807"/>
                    </a:solidFill>
                    <a:ea typeface="Calibri" pitchFamily="34" charset="-122"/>
                    <a:cs typeface="Calibri" pitchFamily="34" charset="-120"/>
                  </a:rPr>
                  <a:t>Skills tested: Type casting · Boolean logic · Variables</a:t>
                </a:r>
                <a:endParaRPr lang="en-US" sz="1000" dirty="0">
                  <a:solidFill>
                    <a:srgbClr val="DF4807"/>
                  </a:solidFill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AD0514-75F6-3FE3-027B-B766CC60C8FD}"/>
              </a:ext>
            </a:extLst>
          </p:cNvPr>
          <p:cNvGrpSpPr/>
          <p:nvPr/>
        </p:nvGrpSpPr>
        <p:grpSpPr>
          <a:xfrm>
            <a:off x="389155" y="4673284"/>
            <a:ext cx="8686800" cy="1691640"/>
            <a:chOff x="389155" y="3689405"/>
            <a:chExt cx="8686800" cy="16916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ED4E18C-7E8E-0EAF-51CD-ED5C99E355E4}"/>
                </a:ext>
              </a:extLst>
            </p:cNvPr>
            <p:cNvGrpSpPr/>
            <p:nvPr/>
          </p:nvGrpSpPr>
          <p:grpSpPr>
            <a:xfrm>
              <a:off x="389155" y="3689405"/>
              <a:ext cx="8686800" cy="1691640"/>
              <a:chOff x="389155" y="3689405"/>
              <a:chExt cx="8686800" cy="1691640"/>
            </a:xfrm>
          </p:grpSpPr>
          <p:sp>
            <p:nvSpPr>
              <p:cNvPr id="12" name="Shape 10">
                <a:extLst>
                  <a:ext uri="{FF2B5EF4-FFF2-40B4-BE49-F238E27FC236}">
                    <a16:creationId xmlns:a16="http://schemas.microsoft.com/office/drawing/2014/main" id="{6F9D0BAE-B297-FBEE-DA26-747D5E431FE7}"/>
                  </a:ext>
                </a:extLst>
              </p:cNvPr>
              <p:cNvSpPr/>
              <p:nvPr/>
            </p:nvSpPr>
            <p:spPr>
              <a:xfrm>
                <a:off x="389155" y="3689405"/>
                <a:ext cx="8686800" cy="1691640"/>
              </a:xfrm>
              <a:prstGeom prst="rect">
                <a:avLst/>
              </a:prstGeom>
              <a:solidFill>
                <a:srgbClr val="FFFFFF"/>
              </a:solidFill>
              <a:ln w="15240">
                <a:solidFill>
                  <a:schemeClr val="bg2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3" name="Shape 11">
                <a:extLst>
                  <a:ext uri="{FF2B5EF4-FFF2-40B4-BE49-F238E27FC236}">
                    <a16:creationId xmlns:a16="http://schemas.microsoft.com/office/drawing/2014/main" id="{DF44B65B-3B43-6A1A-F8AF-FADE8D66DE73}"/>
                  </a:ext>
                </a:extLst>
              </p:cNvPr>
              <p:cNvSpPr/>
              <p:nvPr/>
            </p:nvSpPr>
            <p:spPr>
              <a:xfrm>
                <a:off x="389155" y="3689405"/>
                <a:ext cx="914400" cy="1691640"/>
              </a:xfrm>
              <a:prstGeom prst="rect">
                <a:avLst/>
              </a:prstGeom>
              <a:solidFill>
                <a:srgbClr val="DF4807"/>
              </a:solidFill>
              <a:ln w="12700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DE">
                  <a:solidFill>
                    <a:srgbClr val="DF4807"/>
                  </a:solidFill>
                </a:endParaRPr>
              </a:p>
            </p:txBody>
          </p:sp>
        </p:grp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EC9E60F9-FB1C-8ADD-D5C4-FD0E4AEEEA0A}"/>
                </a:ext>
              </a:extLst>
            </p:cNvPr>
            <p:cNvSpPr/>
            <p:nvPr/>
          </p:nvSpPr>
          <p:spPr>
            <a:xfrm>
              <a:off x="389155" y="4192325"/>
              <a:ext cx="914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P15</a:t>
              </a:r>
              <a:endParaRPr lang="en-US" sz="140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5F9078AA-C2D6-50E0-E50C-BE36B197C433}"/>
                </a:ext>
              </a:extLst>
            </p:cNvPr>
            <p:cNvSpPr/>
            <p:nvPr/>
          </p:nvSpPr>
          <p:spPr>
            <a:xfrm>
              <a:off x="1440715" y="3799133"/>
              <a:ext cx="740664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E4A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Mixed Calculation Challenge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D0320CC4-A2B1-0D9C-0A12-5AF7EB579C44}"/>
                </a:ext>
              </a:extLst>
            </p:cNvPr>
            <p:cNvSpPr/>
            <p:nvPr/>
          </p:nvSpPr>
          <p:spPr>
            <a:xfrm>
              <a:off x="1440715" y="4201469"/>
              <a:ext cx="74066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Cast a='14' and c='3' to numeric, then compute result1=(a+b)*c, result2=(b**c)/a, result3=(a*c)%b.</a:t>
              </a:r>
              <a:endParaRPr lang="en-US" sz="1150" dirty="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30D7C528-0A63-1924-FA79-8D2F848CDAB3}"/>
                </a:ext>
              </a:extLst>
            </p:cNvPr>
            <p:cNvSpPr/>
            <p:nvPr/>
          </p:nvSpPr>
          <p:spPr>
            <a:xfrm>
              <a:off x="1440715" y="4951277"/>
              <a:ext cx="74066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DF4807"/>
                  </a:solidFill>
                  <a:ea typeface="Calibri" pitchFamily="34" charset="-122"/>
                  <a:cs typeface="Calibri" pitchFamily="34" charset="-120"/>
                </a:rPr>
                <a:t>Skills tested: All arithmetic operators · Type casting · Predicting output types</a:t>
              </a:r>
              <a:endParaRPr lang="en-US" sz="1000" dirty="0">
                <a:solidFill>
                  <a:srgbClr val="DF4807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C1F3C7-45A8-051D-29FC-4185D6B7EC90}"/>
              </a:ext>
            </a:extLst>
          </p:cNvPr>
          <p:cNvGrpSpPr/>
          <p:nvPr/>
        </p:nvGrpSpPr>
        <p:grpSpPr>
          <a:xfrm>
            <a:off x="236829" y="1286526"/>
            <a:ext cx="11793493" cy="1754326"/>
            <a:chOff x="236829" y="1286526"/>
            <a:chExt cx="11793493" cy="175432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C1A7F77-7141-9E81-633D-2DD35750F158}"/>
                </a:ext>
              </a:extLst>
            </p:cNvPr>
            <p:cNvSpPr txBox="1"/>
            <p:nvPr/>
          </p:nvSpPr>
          <p:spPr>
            <a:xfrm>
              <a:off x="236829" y="1286526"/>
              <a:ext cx="11793493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Solve both problems and push them to your private individual repository. </a:t>
              </a:r>
              <a:r>
                <a:rPr lang="en-GB" b="1" dirty="0">
                  <a:solidFill>
                    <a:srgbClr val="DF480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deadline is Sunday, 19.04.2026, at 23:59. </a:t>
              </a:r>
              <a:r>
                <a:rPr lang="en-GB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For more details, please have a look at our course’s GitHub Repository </a:t>
              </a:r>
              <a:endPara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>
                <a:buNone/>
              </a:pPr>
              <a:endPara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 </a:t>
              </a:r>
              <a:endParaRPr lang="de-DE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56F551B-40CA-769F-7241-199C237BC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4367" y="1582682"/>
              <a:ext cx="909918" cy="909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245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4BACE3-4337-4A2D-8DDD-F4398029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3" y="2032798"/>
            <a:ext cx="11472946" cy="3980844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Coming Up : Week (2)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de-DE" sz="3200" b="0" dirty="0">
                <a:solidFill>
                  <a:schemeClr val="bg2">
                    <a:lumMod val="75000"/>
                  </a:schemeClr>
                </a:solidFill>
              </a:rPr>
              <a:t>What if your code makes decisions?</a:t>
            </a:r>
            <a:br>
              <a:rPr lang="de-DE" sz="3200" b="0" dirty="0">
                <a:solidFill>
                  <a:schemeClr val="bg2">
                    <a:lumMod val="75000"/>
                  </a:schemeClr>
                </a:solidFill>
              </a:rPr>
            </a:br>
            <a:br>
              <a:rPr lang="de-DE" sz="3200" b="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3200" b="0" dirty="0">
                <a:solidFill>
                  <a:srgbClr val="00699A"/>
                </a:solidFill>
              </a:rPr>
              <a:t>· if / </a:t>
            </a:r>
            <a:r>
              <a:rPr lang="en-US" sz="3200" b="0" dirty="0" err="1">
                <a:solidFill>
                  <a:srgbClr val="00699A"/>
                </a:solidFill>
              </a:rPr>
              <a:t>elif</a:t>
            </a:r>
            <a:r>
              <a:rPr lang="en-US" sz="3200" b="0" dirty="0">
                <a:solidFill>
                  <a:srgbClr val="00699A"/>
                </a:solidFill>
              </a:rPr>
              <a:t> / else ·  for loops  </a:t>
            </a:r>
            <a:br>
              <a:rPr lang="en-US" sz="3200" b="0" dirty="0">
                <a:solidFill>
                  <a:srgbClr val="00699A"/>
                </a:solidFill>
              </a:rPr>
            </a:br>
            <a:r>
              <a:rPr lang="en-US" sz="3200" b="0" dirty="0">
                <a:solidFill>
                  <a:srgbClr val="00699A"/>
                </a:solidFill>
              </a:rPr>
              <a:t>· while loops   ·  Functions</a:t>
            </a:r>
            <a:br>
              <a:rPr lang="en-US" sz="3200" b="0" dirty="0">
                <a:solidFill>
                  <a:srgbClr val="00699A"/>
                </a:solidFill>
              </a:rPr>
            </a:br>
            <a:endParaRPr lang="de-DE" sz="32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0901D8-2231-446A-8D14-E61C975D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9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40E8-AD5E-2087-8E7B-FD394C81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8FE124D-88FA-94F1-79F7-11F9163A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3" y="2032798"/>
            <a:ext cx="11472946" cy="3980844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 </a:t>
            </a:r>
            <a:r>
              <a:rPr lang="en-GB" dirty="0">
                <a:solidFill>
                  <a:srgbClr val="DF4807"/>
                </a:solidFill>
              </a:rPr>
              <a:t>Your Voice Matters: Lab Session Feedback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dirty="0">
                <a:solidFill>
                  <a:schemeClr val="bg2">
                    <a:lumMod val="75000"/>
                  </a:schemeClr>
                </a:solidFill>
              </a:rPr>
            </a:br>
            <a:endParaRPr lang="de-DE" sz="32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7EBFD-9588-7D8F-CD65-85A00F62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29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66E85-51DD-0DD7-8BA9-649180B2413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2" t="33739" r="24226" b="31303"/>
          <a:stretch>
            <a:fillRect/>
          </a:stretch>
        </p:blipFill>
        <p:spPr>
          <a:xfrm>
            <a:off x="4919605" y="3894666"/>
            <a:ext cx="1981201" cy="19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36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7777C3-410C-41B2-86A5-C9A55C4F04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>
            <a:noAutofit/>
          </a:bodyPr>
          <a:lstStyle/>
          <a:p>
            <a:r>
              <a:rPr lang="de-DE" b="1" dirty="0"/>
              <a:t>Dr. Ghadeer Mobasher</a:t>
            </a:r>
          </a:p>
          <a:p>
            <a:r>
              <a:rPr lang="de-DE" dirty="0">
                <a:hlinkClick r:id="rId2"/>
              </a:rPr>
              <a:t>ghadeer.mobasher@srh-hochschulen.de</a:t>
            </a:r>
            <a:r>
              <a:rPr lang="de-DE" dirty="0"/>
              <a:t> </a:t>
            </a:r>
          </a:p>
          <a:p>
            <a:r>
              <a:rPr lang="de-DE" dirty="0">
                <a:hlinkClick r:id="rId3"/>
              </a:rPr>
              <a:t>https://www.linkedin.com/in/ghadeermobasher/</a:t>
            </a:r>
            <a:r>
              <a:rPr lang="de-DE" dirty="0"/>
              <a:t>   </a:t>
            </a:r>
          </a:p>
          <a:p>
            <a:r>
              <a:rPr lang="de-DE" b="1" dirty="0"/>
              <a:t>LGS 6, 2. OG, Arc 213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40045-061E-E501-0B6A-63DC3D55736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661" y="5226315"/>
            <a:ext cx="582267" cy="5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87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95a6423d-8793-44d1-9768-9fa9974617d7"/>
  <p:tag name="SLIDO_EVENT_UUID" val="5e9f1e77-cef1-4261-9478-d3282ba8284a"/>
  <p:tag name="SLIDO_EVENT_SECTION_UUID" val="99069b38-cfa5-45f4-af92-7b98e4ec15d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U2Njk4MzN9"/>
  <p:tag name="SLIDO_TYPE" val="SlidoPoll"/>
  <p:tag name="SLIDO_POLL_UUID" val="e11cdb36-974f-4079-9e50-9d224111a977"/>
  <p:tag name="SLIDO_TIMELINE" val="W3sicG9sbFF1ZXN0aW9uVXVpZCI6ImYxNjFjZDM1LTAzNmYtNDJhNS04YTA3LWY2OTZiNGJhZDQ4YSIsInNob3dSZXN1bHRzIjpmYWxzZSwic2hvd0NvcnJlY3RBbnN3ZXJzIjpmYWxzZSwidm90aW5nTG9ja2VkIjpmYWxzZX0seyJwb2xsUXVlc3Rpb25VdWlkIjoiZjE2MWNkMzUtMDM2Zi00MmE1LThhMDctZjY5NmI0YmFkNDhhIiwic2hvd1Jlc3VsdHMiOnRydWUsInNob3dDb3JyZWN0QW5zd2VycyI6ZmFsc2UsInZvdGluZ0xvY2tlZCI6ZmFsc2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U2Njk0MTR9"/>
  <p:tag name="SLIDO_TYPE" val="SlidoPoll"/>
  <p:tag name="SLIDO_POLL_UUID" val="4440f99b-0563-479f-b462-fa171800a5e5"/>
  <p:tag name="SLIDO_TIMELINE" val="W3sicG9sbFF1ZXN0aW9uVXVpZCI6Ijg4OTk2ODgzLTRjNTQtNDRjOS1iNTcwLTg3NmVmODMwNWExNiIsInNob3dSZXN1bHRzIjpmYWxzZSwic2hvd0NvcnJlY3RBbnN3ZXJzIjpmYWxzZSwidm90aW5nTG9ja2VkIjpmYWxzZX0seyJwb2xsUXVlc3Rpb25VdWlkIjoiODg5OTY4ODMtNGM1NC00NGM5LWI1NzAtODc2ZWY4MzA1YTE2Iiwic2hvd1Jlc3VsdHMiOnRydWUsInNob3dDb3JyZWN0QW5zd2VycyI6ZmFsc2UsInZvdGluZ0xvY2tlZCI6ZmFsc2V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U2NzAyODZ9"/>
  <p:tag name="SLIDO_TYPE" val="SlidoPoll"/>
  <p:tag name="SLIDO_POLL_UUID" val="7707fd3c-1c7d-4b95-ac49-d1b02838477a"/>
  <p:tag name="SLIDO_TIMELINE" val="W3sicG9sbFF1ZXN0aW9uVXVpZCI6IjgwOGU2OWY3LWNkNTQtNDkxNC05MzJmLWRlNWU1NWEwNmQ2MSIsInNob3dSZXN1bHRzIjpmYWxzZSwic2hvd0NvcnJlY3RBbnN3ZXJzIjpmYWxzZSwidm90aW5nTG9ja2VkIjpmYWxzZX0seyJwb2xsUXVlc3Rpb25VdWlkIjoiODA4ZTY5ZjctY2Q1NC00OTE0LTkzMmYtZGU1ZTU1YTA2ZDYxIiwic2hvd1Jlc3VsdHMiOnRydWUsInNob3dDb3JyZWN0QW5zd2VycyI6ZmFsc2UsInZvdGluZ0xvY2tlZCI6ZmFsc2V9XQ=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544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 Typo">
      <a:majorFont>
        <a:latin typeface="SRH Headline"/>
        <a:ea typeface=""/>
        <a:cs typeface=""/>
      </a:majorFont>
      <a:minorFont>
        <a:latin typeface="SRH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1697</TotalTime>
  <Words>3293</Words>
  <Application>Microsoft Office PowerPoint</Application>
  <PresentationFormat>Widescreen</PresentationFormat>
  <Paragraphs>539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Calibri</vt:lpstr>
      <vt:lpstr>SRH Text</vt:lpstr>
      <vt:lpstr>Arial</vt:lpstr>
      <vt:lpstr>SRH</vt:lpstr>
      <vt:lpstr>Consolas</vt:lpstr>
      <vt:lpstr>Aptos</vt:lpstr>
      <vt:lpstr>Cambria Math</vt:lpstr>
      <vt:lpstr>SRH Headline</vt:lpstr>
      <vt:lpstr>Wingdings</vt:lpstr>
      <vt:lpstr>SRH</vt:lpstr>
      <vt:lpstr>Python Foundations for Data Science  </vt:lpstr>
      <vt:lpstr>Name Pronunciation</vt:lpstr>
      <vt:lpstr>About Me</vt:lpstr>
      <vt:lpstr>Lab Rules</vt:lpstr>
      <vt:lpstr>Agenda</vt:lpstr>
      <vt:lpstr>PowerPoint Presentation</vt:lpstr>
      <vt:lpstr>PowerPoint Presentation</vt:lpstr>
      <vt:lpstr>PowerPoint Presentation</vt:lpstr>
      <vt:lpstr>“ Variables about me “  card</vt:lpstr>
      <vt:lpstr>Why Python in Data Science &amp; AI? </vt:lpstr>
      <vt:lpstr>Core Data Types</vt:lpstr>
      <vt:lpstr>Core Data Types</vt:lpstr>
      <vt:lpstr>Core Data Types</vt:lpstr>
      <vt:lpstr>Essential String Operations</vt:lpstr>
      <vt:lpstr>Essential String Operations (Cont.)</vt:lpstr>
      <vt:lpstr>Arithematic Operators</vt:lpstr>
      <vt:lpstr>Understanding Modulo (%)</vt:lpstr>
      <vt:lpstr>Boolean Comparisons</vt:lpstr>
      <vt:lpstr>Logical Operators</vt:lpstr>
      <vt:lpstr>Pause / Break</vt:lpstr>
      <vt:lpstr>Why Type Casting matters?</vt:lpstr>
      <vt:lpstr>Truthiness – bool() on Anything</vt:lpstr>
      <vt:lpstr>Int() Truncates and Variable Reassignment</vt:lpstr>
      <vt:lpstr>Operator Precedence (PEMDAS)</vt:lpstr>
      <vt:lpstr>Integration Challenge: Banking Transaction</vt:lpstr>
      <vt:lpstr>What did we learn today?</vt:lpstr>
      <vt:lpstr>Take-Home Assignments</vt:lpstr>
      <vt:lpstr>Coming Up : Week (2)  What if your code makes decisions?  · if / elif / else ·  for loops   · while loops   ·  Functions </vt:lpstr>
      <vt:lpstr> Your Voice Matters: Lab Session Feedback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Week(1)- Introduction to Python &amp; Programming_x000b_Concepts</dc:title>
  <dc:creator>Ghadeer Mobasher</dc:creator>
  <cp:keywords>Week(1)</cp:keywords>
  <cp:lastModifiedBy>Mobasher, Ghadeer (Lehre SRH Hochschule Heidelberg)</cp:lastModifiedBy>
  <cp:revision>452</cp:revision>
  <dcterms:created xsi:type="dcterms:W3CDTF">2020-06-05T16:20:53Z</dcterms:created>
  <dcterms:modified xsi:type="dcterms:W3CDTF">2026-04-15T15:45:53Z</dcterms:modified>
</cp:coreProperties>
</file>